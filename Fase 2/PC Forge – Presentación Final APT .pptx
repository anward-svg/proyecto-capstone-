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 · acumulado 0:20] Buenos días. Somos Antony Ward y Vicente Becerra, y les presentamos PC Forge, nuestro Proyecto APT: una plataforma para elegir, comparar y comprar componentes de PC compatibles, con foro y asistente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 · acumulado 1:00] Partimos de un problema concreto: armar un PC sin experiencia es arriesgado. Falta información confiable sobre qué piezas funcionan juntas, y un error significa perder dinero. Afecta a usuarios sin conocimientos de hardware, en un mercado de PC y gaming que crece en Chile. Nuestro aporte es guiarlos con recomendaciones según sus necesidades y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 · acumulado 1:20] Nuestra visión: una plataforma integral y accesible para comprar componentes, que facilite la selección, la compatibilidad y el ensamblaje, apoyada por una comunidad y un asistente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 s · acumulado 1:55] La plataforma se sostiene en cuatro pilares: la tienda, con catálogo y filtros; la compatibilidad, que detecta incompatibilidades y cuellos de botella; el foro, donde la comunidad se ayuda; y el chatbot de IA, con soporte las 24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 · acumulado 2:25] Nuestro objetivo general fue desarrollar una plataforma interactiva que asista en la selección de componentes, con foro y chatbot. En concreto: un filtrado para comparar compatibilidad, detección de cuellos de botella entre CPU y GPU, y una interfaz amigable.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 · acumulado 2:55] Somos un equipo de dos con roles claros. Antony se encargó de la comparación de productos y la tienda. Vicente, del foro y del chatbot de IA. La documentación y las ceremonias Scrum las repartimos entre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 · acumulado 3:25] Trabajamos con Scrum en cuatro etapas: planificación, análisis y diseño, construcción y cierre. Cada etapa dejó sus artefactos, desde el user story mapping hasta la retrospectiva, y nos reunimos cada martes desde agosto.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 s · acumulado 4:00] El backlog tuvo doce historias. En el Sprint 1 resolvimos la compatibilidad, en el Sprint 2 la tienda y el inventario, y en el Sprint 3 el foro y el chatbot. Terminamos ocho; el carrito, los pagos y la moderación siguen en progreso.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 · acumulado 4:20] Este es el scrumboard del Sprint 3: lo completado a la derecha, y en proceso el carrito y la pasarela de pago con PayPal.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 s · acumulado 4:45] El burndown muestra 250 puntos en diez semanas. Tuvimos un pequeño atraso hasta la semana cinco, lo recuperamos en la seis y terminamos 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 · acumulado 5:15] En lo técnico, todo corre sobre Django, con MySQL como base de datos. El chatbot usa Llama 3.2 a través de Ollama, de forma local. Usamos solo software gratuito para mantener bajos los costos.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 · acumulado 5:35] El modelo de datos tiene doce tablas en tres áreas: usuarios y roles, tienda y carrito, y foro con publicaciones, comentarios y likes.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 s · acumulado 6:00] Pasemos a la plataforma. Esta es la portada de PC Forge y, a la derecha, la tienda, con productos por categoría, precio y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 · acumulado 6:20] Tenemos inicio de sesión, registro y recuperación de contraseña. El administrador carga productos con atributos como el socket, que usa el comparador.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 s · acumulado 6:45] En el foro los usuarios publican, comentan y dan likes, con moderación. A la derecha, HerrerIA, nuestro chatbot, que responde dudas sobre componentes y armado.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 · acumulado 7:05] Este es el corazón del proyecto: el comparador. El usuario elige dos componentes y el sistema solo le ofrece opciones que se pueden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 · acumulado 7:35] Aquí dos resultados reales. El i9-12900K con la placa B760 es compatible, porque ambos usan LGA 1700. El Ryzen 3 3200G con la misma placa no lo es: usa AM4. El usuario lo sabe antes de comprar.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 s · acumulado 8:10] En lo económico, estimamos una inversión inicial de 19,4 millones de pesos en stock, equipo y marketing. Con 100 ventas al mes, consultas premium y publicidad, proyectamos 155,5 millones en cinco meses, con un beneficio neto cercano a 136 millones.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 s · acumulado 8:35] Tuvimos obstáculos: horarios, distintos niveles de conocimiento, demoras e incluso cortes de luz. Lo que nos permitió avanzar fue la coordinación, los roles claros y la comunicación constante. No fue necesario ajustar el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 · acumulado 8:55] Los próximos pasos son terminar el carrito, los pagos con PayPal y la moderación. Este proyecto reforzó nuestro interés en el desarrollo de software con metodologías ágiles. Muchas gracias,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468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3153"/>
            <a:ext cx="10566400" cy="409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468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3153"/>
            <a:ext cx="10566400" cy="409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gradFill rotWithShape="1">
            <a:gsLst>
              <a:gs pos="0">
                <a:srgbClr val="E8833A">
                  <a:alpha val="90000"/>
                </a:srgbClr>
              </a:gs>
              <a:gs pos="55000">
                <a:srgbClr val="B8521C">
                  <a:alpha val="90000"/>
                </a:srgbClr>
              </a:gs>
              <a:gs pos="100000">
                <a:srgbClr val="15181E">
                  <a:alpha val="9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839200" y="711200"/>
            <a:ext cx="2540000" cy="806450"/>
          </a:xfrm>
          <a:prstGeom prst="roundRect">
            <a:avLst>
              <a:gd name="adj" fmla="val 12598"/>
            </a:avLst>
          </a:prstGeom>
          <a:solidFill>
            <a:srgbClr val="F4F1EA"/>
          </a:solidFill>
          <a:ln/>
        </p:spPr>
      </p:sp>
      <p:pic>
        <p:nvPicPr>
          <p:cNvPr id="4" name="Image 0" descr="Logo Duoc UC">    </p:cNvPr>
          <p:cNvPicPr>
            <a:picLocks noChangeAspect="1"/>
          </p:cNvPicPr>
          <p:nvPr/>
        </p:nvPicPr>
        <p:blipFill>
          <a:blip r:embed="rId1"/>
          <a:srcRect l="0" r="0" t="-128" b="-128"/>
          <a:stretch/>
        </p:blipFill>
        <p:spPr>
          <a:xfrm>
            <a:off x="8991600" y="863600"/>
            <a:ext cx="2235200" cy="501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APT · FASE 2 · INFORME FINAL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2193396"/>
            <a:ext cx="65405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i="0" spc="-20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</a:t>
            </a:r>
            <a:endParaRPr lang="en-US" sz="9000" dirty="0"/>
          </a:p>
        </p:txBody>
      </p:sp>
      <p:sp>
        <p:nvSpPr>
          <p:cNvPr id="7" name="Text 4"/>
          <p:cNvSpPr/>
          <p:nvPr/>
        </p:nvSpPr>
        <p:spPr>
          <a:xfrm>
            <a:off x="812800" y="3539596"/>
            <a:ext cx="6540500" cy="111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para elegir, comparar y comprar componentes de PC compatibles, con foro y asistente de IA.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2800" y="5760773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Antony Ward</a:t>
            </a: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Vicente Becerra</a:t>
            </a: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APT122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RELEVANCIA DEL PROYECTO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7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 un PC sin experiencia es arriesgado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03954"/>
            <a:ext cx="5486400" cy="3838046"/>
          </a:xfrm>
          <a:prstGeom prst="roundRect">
            <a:avLst>
              <a:gd name="adj" fmla="val 3971"/>
            </a:avLst>
          </a:prstGeom>
          <a:solidFill>
            <a:srgbClr val="15181E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3083543"/>
            <a:ext cx="4918456" cy="75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información confiable para saber qué piezas funcionan juntas.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68400" y="3962312"/>
            <a:ext cx="491845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usuario sin conocimientos técnicos puede comprar componentes incompatibles o mal balanceados y perder dinero.</a:t>
            </a:r>
            <a:endParaRPr lang="en-US" sz="1500" dirty="0"/>
          </a:p>
        </p:txBody>
      </p:sp>
      <p:pic>
        <p:nvPicPr>
          <p:cNvPr id="7" name="Image 0" descr="Users">    </p:cNvPr>
          <p:cNvPicPr>
            <a:picLocks noChangeAspect="1"/>
          </p:cNvPicPr>
          <p:nvPr/>
        </p:nvPicPr>
        <p:blipFill>
          <a:blip r:embed="rId1"/>
          <a:srcRect l="0" r="0" t="-682" b="-682"/>
          <a:stretch/>
        </p:blipFill>
        <p:spPr>
          <a:xfrm>
            <a:off x="6604000" y="2891896"/>
            <a:ext cx="200466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56866" y="2891896"/>
            <a:ext cx="455500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 afecta:</a:t>
            </a:r>
            <a:r>
              <a:rPr lang="en-US" sz="16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consumidores sin conocimientos avanzados de hardware.</a:t>
            </a:r>
            <a:endParaRPr lang="en-US" sz="1600" dirty="0"/>
          </a:p>
        </p:txBody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-730" b="-730"/>
          <a:stretch/>
        </p:blipFill>
        <p:spPr>
          <a:xfrm>
            <a:off x="6604000" y="3638550"/>
            <a:ext cx="175242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31643" y="3638550"/>
            <a:ext cx="458098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Contexto:</a:t>
            </a:r>
            <a:r>
              <a:rPr lang="en-US" sz="16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crece el mercado de PC y el interés por la tecnología y el gaming en Chile.</a:t>
            </a:r>
            <a:endParaRPr lang="en-US" sz="1600" dirty="0"/>
          </a:p>
        </p:txBody>
      </p:sp>
      <p:pic>
        <p:nvPicPr>
          <p:cNvPr id="11" name="Image 2" descr="Lightbulb">    </p:cNvPr>
          <p:cNvPicPr>
            <a:picLocks noChangeAspect="1"/>
          </p:cNvPicPr>
          <p:nvPr/>
        </p:nvPicPr>
        <p:blipFill>
          <a:blip r:embed="rId3"/>
          <a:srcRect l="0" r="0" t="-590" b="-590"/>
          <a:stretch/>
        </p:blipFill>
        <p:spPr>
          <a:xfrm>
            <a:off x="6604000" y="4385204"/>
            <a:ext cx="156898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13298" y="4385204"/>
            <a:ext cx="4599879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aporte:</a:t>
            </a:r>
            <a:r>
              <a:rPr lang="en-US" sz="16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recomendaciones ajustadas a las necesidades y presupuesto de cada usuario.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Proyecto APT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8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9773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DEL PROYECTO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151416"/>
            <a:ext cx="10883392" cy="313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spc="-50" kern="0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“Crear una plataforma integral y accesible para la compra de componentes de PC, que facilite a los usuarios de todos los niveles la selección, compatibilidad y ensamblaje de equipos, apoyados por una comunidad activa y un asistente de IA inteligente.”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7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pilares de la plataforma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7129"/>
            <a:ext cx="2482850" cy="3831696"/>
          </a:xfrm>
          <a:prstGeom prst="roundRect">
            <a:avLst>
              <a:gd name="adj" fmla="val 498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5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444" y="2263598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2444" y="2746198"/>
            <a:ext cx="2029008" cy="551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componentes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2444" y="3398838"/>
            <a:ext cx="2029008" cy="94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por categorías con especificaciones, precios, búsqueda avanzada y filtros.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08375" y="2007129"/>
            <a:ext cx="2482850" cy="3831696"/>
          </a:xfrm>
          <a:prstGeom prst="roundRect">
            <a:avLst>
              <a:gd name="adj" fmla="val 498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9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4845" y="2263598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64845" y="2746198"/>
            <a:ext cx="202900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764845" y="3136018"/>
            <a:ext cx="2029008" cy="118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incompatibilidades y cuellos de botella, y sugiere alternativas compatibles.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00775" y="2007129"/>
            <a:ext cx="2482850" cy="3831696"/>
          </a:xfrm>
          <a:prstGeom prst="roundRect">
            <a:avLst>
              <a:gd name="adj" fmla="val 498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7245" y="2263598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7245" y="2746198"/>
            <a:ext cx="202900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en línea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57245" y="3136018"/>
            <a:ext cx="2029008" cy="94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por temas, con moderadores, likes, comentarios y búsqueda de respuestas.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93175" y="2007129"/>
            <a:ext cx="2482850" cy="3831696"/>
          </a:xfrm>
          <a:prstGeom prst="roundRect">
            <a:avLst>
              <a:gd name="adj" fmla="val 498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7" name="Image 3" descr="Cha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9645" y="2263598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9645" y="2746198"/>
            <a:ext cx="202900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de IA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9149645" y="3136018"/>
            <a:ext cx="2029008" cy="118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24/7: recomendaciones personalizadas, guías de ensamblaje y preguntas frecuentes.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Proyecto APT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71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nos propusimos lograr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3155"/>
            <a:ext cx="10566400" cy="1452827"/>
          </a:xfrm>
          <a:prstGeom prst="roundRect">
            <a:avLst>
              <a:gd name="adj" fmla="val 8742"/>
            </a:avLst>
          </a:prstGeom>
          <a:solidFill>
            <a:srgbClr val="15181E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232555"/>
            <a:ext cx="10150856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8400" y="2522097"/>
            <a:ext cx="10150856" cy="62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plataforma interactiva que asista a los usuarios en la selección de componentes para armar computadoras, con un foro especializado y un chatbot que entregue recomendaciones.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3723481"/>
            <a:ext cx="3386667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3911160"/>
            <a:ext cx="3435943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39444"/>
            <a:ext cx="34359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sistema de filtrado para comparar componentes compatibles entre sí.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2667" y="3723481"/>
            <a:ext cx="3386667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2667" y="3911160"/>
            <a:ext cx="3435943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02667" y="4439444"/>
            <a:ext cx="34359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posibles cuellos de botella entre procesadores y tarjetas gráficas.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92533" y="3723481"/>
            <a:ext cx="3386667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2533" y="3911160"/>
            <a:ext cx="3435943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92533" y="4439444"/>
            <a:ext cx="34359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interfaz amigable que guíe al usuario en la selección.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Proyecto APT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Y RESPONSABILIDADES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71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equipo de dos, con roles claros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03955"/>
            <a:ext cx="5156200" cy="3838046"/>
          </a:xfrm>
          <a:prstGeom prst="roundRect">
            <a:avLst>
              <a:gd name="adj" fmla="val 3971"/>
            </a:avLst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359555"/>
            <a:ext cx="4578350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Antony Ward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68400" y="2908123"/>
            <a:ext cx="4578350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productos · Tienda de componentes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8400" y="3558294"/>
            <a:ext cx="4578350" cy="1056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e interfaz de comparación, catálogo, inventario, carrito y pagos. Análisis del caso, mapa mental, mapa de actores, product backlog, sprint planning, scrumboard, review y retrospectiva.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3000" y="2003955"/>
            <a:ext cx="5156200" cy="3838046"/>
          </a:xfrm>
          <a:prstGeom prst="roundRect">
            <a:avLst>
              <a:gd name="adj" fmla="val 3971"/>
            </a:avLst>
          </a:prstGeom>
          <a:solidFill>
            <a:srgbClr val="22262E"/>
          </a:solidFill>
          <a:ln/>
        </p:spPr>
      </p:sp>
      <p:sp>
        <p:nvSpPr>
          <p:cNvPr id="9" name="Text 7"/>
          <p:cNvSpPr/>
          <p:nvPr/>
        </p:nvSpPr>
        <p:spPr>
          <a:xfrm>
            <a:off x="6578600" y="2359555"/>
            <a:ext cx="4578350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Vicente Becerra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78600" y="2908123"/>
            <a:ext cx="457835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· Chatbot de 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78600" y="3309407"/>
            <a:ext cx="4578350" cy="79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y frontend del foro, roles y moderación, desarrollo y entrenamiento del chatbot. User story mapping, registro de impedimentos y release.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Proyecto APT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71"/>
            <a:ext cx="11379200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Scrum: entregas incrementales en sprints cortos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56330"/>
            <a:ext cx="2501900" cy="2040643"/>
          </a:xfrm>
          <a:prstGeom prst="roundRect">
            <a:avLst>
              <a:gd name="adj" fmla="val 606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044" y="2187398"/>
            <a:ext cx="210095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PLANIFICACIÓN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044" y="2476940"/>
            <a:ext cx="2100954" cy="79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del caso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y roles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GitHub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2025" y="1956330"/>
            <a:ext cx="2501900" cy="2040643"/>
          </a:xfrm>
          <a:prstGeom prst="roundRect">
            <a:avLst>
              <a:gd name="adj" fmla="val 606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3095" y="2187398"/>
            <a:ext cx="210095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ANÁLISIS Y 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33095" y="2476940"/>
            <a:ext cx="2100954" cy="1056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 mapping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actores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mapping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épicas e historias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8075" y="1956330"/>
            <a:ext cx="2501900" cy="2040643"/>
          </a:xfrm>
          <a:prstGeom prst="roundRect">
            <a:avLst>
              <a:gd name="adj" fmla="val 606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145" y="2187398"/>
            <a:ext cx="210095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CONSTRUCCIÓN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9145" y="2476940"/>
            <a:ext cx="2100954" cy="1056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priorizado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Scrumboard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Burndown chart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74125" y="1956330"/>
            <a:ext cx="2501900" cy="2040643"/>
          </a:xfrm>
          <a:prstGeom prst="roundRect">
            <a:avLst>
              <a:gd name="adj" fmla="val 606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5195" y="2187398"/>
            <a:ext cx="210095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CIERRE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05195" y="2476940"/>
            <a:ext cx="2100954" cy="1314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impedimentos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304947"/>
            <a:ext cx="10566400" cy="939800"/>
          </a:xfrm>
          <a:prstGeom prst="roundRect">
            <a:avLst>
              <a:gd name="adj" fmla="val 13514"/>
            </a:avLst>
          </a:prstGeom>
          <a:solidFill>
            <a:srgbClr val="15181E"/>
          </a:solidFill>
          <a:ln/>
        </p:spPr>
      </p:sp>
      <p:pic>
        <p:nvPicPr>
          <p:cNvPr id="17" name="Image 0" descr="Clock">    </p:cNvPr>
          <p:cNvPicPr>
            <a:picLocks noChangeAspect="1"/>
          </p:cNvPicPr>
          <p:nvPr/>
        </p:nvPicPr>
        <p:blipFill>
          <a:blip r:embed="rId1"/>
          <a:srcRect l="-521" r="-521" t="0" b="0"/>
          <a:stretch/>
        </p:blipFill>
        <p:spPr>
          <a:xfrm>
            <a:off x="1092200" y="4622447"/>
            <a:ext cx="282310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26910" y="4508147"/>
            <a:ext cx="98600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meetings semanales cada martes desde el 13 de agosto de 2024, con review y retrospectiva al cierre de cada sprint.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Proyecto APT · Fuente: Carta Gantt y Daily Meeting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BACKLOG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71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de 12 historias finalizadas en tres sprints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56330"/>
            <a:ext cx="3380317" cy="3882496"/>
          </a:xfrm>
          <a:prstGeom prst="roundRect">
            <a:avLst>
              <a:gd name="adj" fmla="val 366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444" y="2212798"/>
            <a:ext cx="29533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2444" y="2619198"/>
            <a:ext cx="295339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finalizadas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2444" y="2934140"/>
            <a:ext cx="295339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productos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compatibilidad (backend)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 de placas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de producto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956330"/>
            <a:ext cx="3380317" cy="3882496"/>
          </a:xfrm>
          <a:prstGeom prst="roundRect">
            <a:avLst>
              <a:gd name="adj" fmla="val 366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311" y="2212798"/>
            <a:ext cx="29533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2311" y="2619198"/>
            <a:ext cx="295339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finalizadas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2311" y="2934140"/>
            <a:ext cx="295339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de búsqueda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inventario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1956330"/>
            <a:ext cx="3380317" cy="3882496"/>
          </a:xfrm>
          <a:prstGeom prst="roundRect">
            <a:avLst>
              <a:gd name="adj" fmla="val 366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178" y="2212798"/>
            <a:ext cx="29533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52178" y="2619198"/>
            <a:ext cx="2953399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finalizadas · </a:t>
            </a:r>
            <a:r>
              <a:rPr lang="en-US" sz="1200" b="1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 progreso · 1 pendiente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52178" y="3147482"/>
            <a:ext cx="2953399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del chatbot IA ✓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del foro ✓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Moderación del foro (en progreso)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 de compras (en progreso)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con PayPal (en progreso)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por email (pendiente)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Fuente: Product Backlog Priorizado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37394"/>
            <a:ext cx="405511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SCRUMBOARD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71663"/>
            <a:ext cx="4055110" cy="103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cerró el Sprint 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3080631"/>
            <a:ext cx="405511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4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Completadas: login y registro, CRUD de productos, comparación, likes, comentarios, publicaciones, detección de acoso para moderación y el modelo de IA instalado y entrenado.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664956"/>
            <a:ext cx="405511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4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proceso: funciones del carrito y la pasarela de pago con PayPal.</a:t>
            </a:r>
            <a:endParaRPr lang="en-US" sz="1500" dirty="0"/>
          </a:p>
        </p:txBody>
      </p:sp>
      <p:pic>
        <p:nvPicPr>
          <p:cNvPr id="6" name="Image 0" descr="Scrumboard del Sprint 3 de PC Forge con columnas Lista de tareas, En proceso, Por revisar y Completada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56200" y="993775"/>
            <a:ext cx="6223000" cy="4667250"/>
          </a:xfrm>
          <a:prstGeom prst="roundRect">
            <a:avLst>
              <a:gd name="adj" fmla="val 2177"/>
            </a:avLst>
          </a:prstGeom>
        </p:spPr>
      </p:pic>
      <p:sp>
        <p:nvSpPr>
          <p:cNvPr id="7" name="Text 4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Fuente: Scrumboard Sprint 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BURNDOWN CHART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puntos quemados en 10 semanas, a tiempo</a:t>
            </a:r>
            <a:endParaRPr lang="en-US" sz="3600" dirty="0"/>
          </a:p>
        </p:txBody>
      </p:sp>
      <p:pic>
        <p:nvPicPr>
          <p:cNvPr id="4" name="Image 0" descr="Burndown de PC Forge: puntos restantes estimados y reales por semana, de 250 en la semana 1 a 0 en la semana 1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02352"/>
            <a:ext cx="6350000" cy="3003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9800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86971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34230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81401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8571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75831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23001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70172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17431" y="4982102"/>
            <a:ext cx="23724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10362" y="4982102"/>
            <a:ext cx="32543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69200" y="1902352"/>
            <a:ext cx="392430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 Real</a:t>
            </a: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8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╌ Estimado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69200" y="2354442"/>
            <a:ext cx="392430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la semana 5 fuimos levemente atrasados (140 puntos reales contra 130 estimados).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69200" y="3386317"/>
            <a:ext cx="392430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semana 6 alcanzamos el plan y desde la 7 avanzamos por delante, terminando en 0.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Fuente: Burndown chart PCForge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SOFTWARE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al centro, MySQL y Llama 3.2 detrás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2352"/>
            <a:ext cx="6985000" cy="3390900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/>
        </p:spPr>
      </p:sp>
      <p:pic>
        <p:nvPicPr>
          <p:cNvPr id="5" name="Image 0" descr="Diagrama de arquitectura de PCForge: el usuario entra por la interfaz Django a home, login, perfil, foro, tienda, comparación y chatbot, que se conectan con MySQL y Ollama con Llama 3.2">    </p:cNvPr>
          <p:cNvPicPr>
            <a:picLocks noChangeAspect="1"/>
          </p:cNvPicPr>
          <p:nvPr/>
        </p:nvPicPr>
        <p:blipFill>
          <a:blip r:embed="rId1"/>
          <a:srcRect l="-29" r="-29" t="0" b="0"/>
          <a:stretch/>
        </p:blipFill>
        <p:spPr>
          <a:xfrm>
            <a:off x="819150" y="1908702"/>
            <a:ext cx="6972300" cy="3378200"/>
          </a:xfrm>
          <a:prstGeom prst="roundRect">
            <a:avLst>
              <a:gd name="adj" fmla="val 282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05527"/>
            <a:ext cx="6978650" cy="3384550"/>
          </a:xfrm>
          <a:prstGeom prst="roundRect">
            <a:avLst>
              <a:gd name="adj" fmla="val 2908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02600" y="1902352"/>
            <a:ext cx="33748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02600" y="2141097"/>
            <a:ext cx="337489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(Python), frontend y backend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02600" y="2541147"/>
            <a:ext cx="33748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02600" y="2779892"/>
            <a:ext cx="337489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02600" y="3179942"/>
            <a:ext cx="33748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02600" y="3418681"/>
            <a:ext cx="337489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con Llama 3.2, ejecutado localmente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02600" y="4066381"/>
            <a:ext cx="33748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02600" y="4305126"/>
            <a:ext cx="337489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de PayPal (en integración)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Fuente: Arquitectura de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áreas sobre una misma base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2352"/>
            <a:ext cx="6985000" cy="34925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pic>
        <p:nvPicPr>
          <p:cNvPr id="5" name="Image 0" descr="Modelo entidad-relación de PC Forge con las tablas de usuarios, roles, productos, carrito, posts, comentarios y likes">    </p:cNvPr>
          <p:cNvPicPr>
            <a:picLocks noChangeAspect="1"/>
          </p:cNvPicPr>
          <p:nvPr/>
        </p:nvPicPr>
        <p:blipFill>
          <a:blip r:embed="rId1"/>
          <a:srcRect l="-149" r="-149" t="0" b="0"/>
          <a:stretch/>
        </p:blipFill>
        <p:spPr>
          <a:xfrm>
            <a:off x="819150" y="1908702"/>
            <a:ext cx="6972300" cy="3479800"/>
          </a:xfrm>
          <a:prstGeom prst="roundRect">
            <a:avLst>
              <a:gd name="adj" fmla="val 273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05527"/>
            <a:ext cx="6978650" cy="3486150"/>
          </a:xfrm>
          <a:prstGeom prst="roundRect">
            <a:avLst>
              <a:gd name="adj" fmla="val 2823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02600" y="1902352"/>
            <a:ext cx="33748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02600" y="2141097"/>
            <a:ext cx="337489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usuario, rol y permisos de Django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02600" y="2558876"/>
            <a:ext cx="33748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02600" y="2797615"/>
            <a:ext cx="337489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producto, tipo_producto, carrito, item_carrito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02600" y="3455374"/>
            <a:ext cx="33748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02600" y="3694113"/>
            <a:ext cx="337489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post, comentario, like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Fuente: Modelo entidad-relación y esquema.sql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LA PLATAFORMA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y tienda de componentes</a:t>
            </a:r>
            <a:endParaRPr lang="en-US" sz="3600" dirty="0"/>
          </a:p>
        </p:txBody>
      </p:sp>
      <p:pic>
        <p:nvPicPr>
          <p:cNvPr id="4" name="Image 0" descr="Página de inicio de PcForge con el logo de llama y enlaces a redes sociales">    </p:cNvPr>
          <p:cNvPicPr>
            <a:picLocks noChangeAspect="1"/>
          </p:cNvPicPr>
          <p:nvPr/>
        </p:nvPicPr>
        <p:blipFill>
          <a:blip r:embed="rId1"/>
          <a:srcRect l="33" r="33" t="0" b="0"/>
          <a:stretch/>
        </p:blipFill>
        <p:spPr>
          <a:xfrm>
            <a:off x="819150" y="1959502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956327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766202"/>
            <a:ext cx="5284724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portada presenta la marca y da acceso a productos, foro e inicio de sesión.</a:t>
            </a:r>
            <a:endParaRPr lang="en-US" sz="1400" dirty="0"/>
          </a:p>
        </p:txBody>
      </p:sp>
      <p:pic>
        <p:nvPicPr>
          <p:cNvPr id="7" name="Image 1" descr="Tienda de PcForge mostrando un carrusel de tarjetas de video con precios y estado activo">    </p:cNvPr>
          <p:cNvPicPr>
            <a:picLocks noChangeAspect="1"/>
          </p:cNvPicPr>
          <p:nvPr/>
        </p:nvPicPr>
        <p:blipFill>
          <a:blip r:embed="rId2"/>
          <a:srcRect l="154" r="154" t="0" b="0"/>
          <a:stretch/>
        </p:blipFill>
        <p:spPr>
          <a:xfrm>
            <a:off x="6254750" y="1959502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51575" y="1956327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4766202"/>
            <a:ext cx="5284724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Catálogo por categorías, con precio, estado y acceso al detalle de cada producto.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Capturas de la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LA PLATAFORMA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de usuario y gestión de productos</a:t>
            </a:r>
            <a:endParaRPr lang="en-US" sz="3600" dirty="0"/>
          </a:p>
        </p:txBody>
      </p:sp>
      <p:pic>
        <p:nvPicPr>
          <p:cNvPr id="4" name="Image 0" descr="Formulario de inicio de sesión de PcForge con correo, contraseña y enlace para restablecer la contraseña">    </p:cNvPr>
          <p:cNvPicPr>
            <a:picLocks noChangeAspect="1"/>
          </p:cNvPicPr>
          <p:nvPr/>
        </p:nvPicPr>
        <p:blipFill>
          <a:blip r:embed="rId1"/>
          <a:srcRect l="93" r="93" t="0" b="0"/>
          <a:stretch/>
        </p:blipFill>
        <p:spPr>
          <a:xfrm>
            <a:off x="819150" y="1959502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956327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766202"/>
            <a:ext cx="543560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sesión.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Login, registro y recuperación de contraseña.</a:t>
            </a:r>
            <a:endParaRPr lang="en-US" sz="1400" dirty="0"/>
          </a:p>
        </p:txBody>
      </p:sp>
      <p:pic>
        <p:nvPicPr>
          <p:cNvPr id="7" name="Image 1" descr="Formulario para agregar producto con descripción, precio, stock, tipo, marca, socket y fotos">    </p:cNvPr>
          <p:cNvPicPr>
            <a:picLocks noChangeAspect="1"/>
          </p:cNvPicPr>
          <p:nvPr/>
        </p:nvPicPr>
        <p:blipFill>
          <a:blip r:embed="rId2"/>
          <a:srcRect l="274" r="274" t="0" b="0"/>
          <a:stretch/>
        </p:blipFill>
        <p:spPr>
          <a:xfrm>
            <a:off x="6254750" y="1959502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51575" y="1956327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4766202"/>
            <a:ext cx="5284724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producto.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CRUD para el administrador: precio, stock, tipo, marca, socket y fotos.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Capturas de la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LA PLATAFORMA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de la comunidad y chatbot HerrerIA</a:t>
            </a:r>
            <a:endParaRPr lang="en-US" sz="3600" dirty="0"/>
          </a:p>
        </p:txBody>
      </p:sp>
      <p:pic>
        <p:nvPicPr>
          <p:cNvPr id="4" name="Image 0" descr="Foro Discusión de componentes con una publicación sobre recomendaciones para un primer PC, likes, comentarios y destacados">    </p:cNvPr>
          <p:cNvPicPr>
            <a:picLocks noChangeAspect="1"/>
          </p:cNvPicPr>
          <p:nvPr/>
        </p:nvPicPr>
        <p:blipFill>
          <a:blip r:embed="rId1"/>
          <a:srcRect l="33" r="33" t="0" b="0"/>
          <a:stretch/>
        </p:blipFill>
        <p:spPr>
          <a:xfrm>
            <a:off x="819150" y="1959502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956327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766202"/>
            <a:ext cx="5284724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Publicaciones con likes, comentarios, destacados y moderación.</a:t>
            </a:r>
            <a:endParaRPr lang="en-US" sz="1400" dirty="0"/>
          </a:p>
        </p:txBody>
      </p:sp>
      <p:pic>
        <p:nvPicPr>
          <p:cNvPr id="7" name="Image 1" descr="Ventana del chatbot de PcForge saludando al usuario, con reglas de contenido y de privacidad">    </p:cNvPr>
          <p:cNvPicPr>
            <a:picLocks noChangeAspect="1"/>
          </p:cNvPicPr>
          <p:nvPr/>
        </p:nvPicPr>
        <p:blipFill>
          <a:blip r:embed="rId2"/>
          <a:srcRect l="274" r="274" t="0" b="0"/>
          <a:stretch/>
        </p:blipFill>
        <p:spPr>
          <a:xfrm>
            <a:off x="6254750" y="1959502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51575" y="1956327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4766202"/>
            <a:ext cx="5284724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HerrerIA.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Chatbot con Llama 3.2 que responde dudas sobre componentes y armado.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Capturas de la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LA PLATAFORMA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 de compatibilidad</a:t>
            </a:r>
            <a:endParaRPr lang="en-US" sz="3600" dirty="0"/>
          </a:p>
        </p:txBody>
      </p:sp>
      <p:pic>
        <p:nvPicPr>
          <p:cNvPr id="4" name="Image 0" descr="Pantalla Comprobar compatibilidad de productos con selección de tipo y producto para dos componentes">    </p:cNvPr>
          <p:cNvPicPr>
            <a:picLocks noChangeAspect="1"/>
          </p:cNvPicPr>
          <p:nvPr/>
        </p:nvPicPr>
        <p:blipFill>
          <a:blip r:embed="rId1"/>
          <a:srcRect l="7" r="7" t="0" b="0"/>
          <a:stretch/>
        </p:blipFill>
        <p:spPr>
          <a:xfrm>
            <a:off x="819150" y="1959508"/>
            <a:ext cx="6718300" cy="3511550"/>
          </a:xfrm>
          <a:prstGeom prst="roundRect">
            <a:avLst>
              <a:gd name="adj" fmla="val 198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956333"/>
            <a:ext cx="6724650" cy="3517900"/>
          </a:xfrm>
          <a:prstGeom prst="roundRect">
            <a:avLst>
              <a:gd name="adj" fmla="val 2076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99400" y="1953158"/>
            <a:ext cx="358419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99400" y="2217303"/>
            <a:ext cx="35841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elige el tipo y el primer producto.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99400" y="2953903"/>
            <a:ext cx="358419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9400" y="3218036"/>
            <a:ext cx="35841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segundo selector solo ofrece tipos y productos que se pueden comparar.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99400" y="3954636"/>
            <a:ext cx="358419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99400" y="4218781"/>
            <a:ext cx="35841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“Comprobar compatibilidad” muestra el resultado.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800" y="6238255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Capturas de la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LA PLATAFORMA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compara el socket y avisa</a:t>
            </a:r>
            <a:endParaRPr lang="en-US" sz="3600" dirty="0"/>
          </a:p>
        </p:txBody>
      </p:sp>
      <p:pic>
        <p:nvPicPr>
          <p:cNvPr id="4" name="Image 0" descr="Resultado de comparación: Intel Core i9-12900K y placa MSI MAG B760, mensaje de que son compatibles">    </p:cNvPr>
          <p:cNvPicPr>
            <a:picLocks noChangeAspect="1"/>
          </p:cNvPicPr>
          <p:nvPr/>
        </p:nvPicPr>
        <p:blipFill>
          <a:blip r:embed="rId1"/>
          <a:srcRect l="514" r="514" t="0" b="0"/>
          <a:stretch/>
        </p:blipFill>
        <p:spPr>
          <a:xfrm>
            <a:off x="819150" y="1959508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956333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766208"/>
            <a:ext cx="5284724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Compatibles.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Intel Core i9-12900K y MSI MAG B760 comparten el socket LGA 1700.</a:t>
            </a:r>
            <a:endParaRPr lang="en-US" sz="1400" dirty="0"/>
          </a:p>
        </p:txBody>
      </p:sp>
      <p:pic>
        <p:nvPicPr>
          <p:cNvPr id="7" name="Image 1" descr="Resultado de comparación: AMD Ryzen 3 3200G y placa MSI MAG B760, mensaje de que no son compatibles">    </p:cNvPr>
          <p:cNvPicPr>
            <a:picLocks noChangeAspect="1"/>
          </p:cNvPicPr>
          <p:nvPr/>
        </p:nvPicPr>
        <p:blipFill>
          <a:blip r:embed="rId2"/>
          <a:srcRect l="214" r="214" t="0" b="0"/>
          <a:stretch/>
        </p:blipFill>
        <p:spPr>
          <a:xfrm>
            <a:off x="6254750" y="1959508"/>
            <a:ext cx="5118100" cy="2673350"/>
          </a:xfrm>
          <a:prstGeom prst="roundRect">
            <a:avLst>
              <a:gd name="adj" fmla="val 2613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51575" y="1956333"/>
            <a:ext cx="5124450" cy="2679700"/>
          </a:xfrm>
          <a:prstGeom prst="roundRect">
            <a:avLst>
              <a:gd name="adj" fmla="val 2725"/>
            </a:avLst>
          </a:prstGeom>
          <a:noFill/>
          <a:ln w="6350">
            <a:solidFill>
              <a:srgbClr val="3A3F4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4766208"/>
            <a:ext cx="5284724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compatibles.</a:t>
            </a: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Ryzen 3 3200G usa socket AM4 y la placa es LGA 1700.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2800" y="6238255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Capturas de la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COSTOS Y RETORNO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viable en cinco meses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16658"/>
            <a:ext cx="3386667" cy="0"/>
          </a:xfrm>
          <a:prstGeom prst="line">
            <a:avLst/>
          </a:prstGeom>
          <a:noFill/>
          <a:ln w="25400">
            <a:solidFill>
              <a:srgbClr val="8FB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29731"/>
            <a:ext cx="348826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inicial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536999"/>
            <a:ext cx="348826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 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12800" y="3171999"/>
            <a:ext cx="348826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$6,89 M · Equipo $10 M · Marketing $2,5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2667" y="2016658"/>
            <a:ext cx="3386667" cy="0"/>
          </a:xfrm>
          <a:prstGeom prst="line">
            <a:avLst/>
          </a:prstGeom>
          <a:noFill/>
          <a:ln w="25400">
            <a:solidFill>
              <a:srgbClr val="8FB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2667" y="2229731"/>
            <a:ext cx="348826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proyectados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02667" y="2536999"/>
            <a:ext cx="348826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$155,5 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402667" y="3171999"/>
            <a:ext cx="3488267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$150 M · Consultas premium $3 M · Publicidad $2,5 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2533" y="2016658"/>
            <a:ext cx="3386667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2533" y="2229731"/>
            <a:ext cx="348826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 neto estimado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92533" y="2536999"/>
            <a:ext cx="348826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$136,1 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992533" y="3171999"/>
            <a:ext cx="348826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a diciembre, en pesos chilenos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954289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Supuestos: 100 ventas al mes con un ticket promedio de $300.000 y 20 consultas premium diarias de compatibilidad a $1.000. La infraestructura usa equipos existentes y software gratuito.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55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Fuente: Análisis del Caso · Cifras en CLP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IMPEDIMENTOS Y APRENDIZAJES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6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Hubo obstáculos, pero no cambiaron el plan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56333"/>
            <a:ext cx="5130095" cy="3882496"/>
          </a:xfrm>
          <a:prstGeom prst="roundRect">
            <a:avLst>
              <a:gd name="adj" fmla="val 318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244" y="2276301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4244" y="2263601"/>
            <a:ext cx="2472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nos frenó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23244" y="2695401"/>
            <a:ext cx="4651022" cy="1127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horarios del equipo
Distintos niveles de conocimiento
Demoras en entregas
Falta de conocimiento en algunos temas
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54045" y="1953158"/>
            <a:ext cx="5125156" cy="3888846"/>
          </a:xfrm>
          <a:prstGeom prst="roundRect">
            <a:avLst>
              <a:gd name="adj" fmla="val 3266"/>
            </a:avLst>
          </a:prstGeom>
          <a:solidFill>
            <a:srgbClr val="15181E"/>
          </a:solidFill>
          <a:ln/>
        </p:spPr>
      </p:sp>
      <p:pic>
        <p:nvPicPr>
          <p:cNvPr id="9" name="Image 1" descr="ThumbsU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58845" y="2270658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39845" y="2257958"/>
            <a:ext cx="26078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nos ayudó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58845" y="2689758"/>
            <a:ext cx="4651022" cy="14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 coordinación como equipo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asignados con claridad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constante para corregir a tiempo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actividades de la Carta Gantt completadas, sin ajustes al plan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55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Forge · Fuente: Registro de impedimentos e Informe de avance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gradFill rotWithShape="1">
            <a:gsLst>
              <a:gs pos="0">
                <a:srgbClr val="E8833A">
                  <a:alpha val="90000"/>
                </a:srgbClr>
              </a:gs>
              <a:gs pos="55000">
                <a:srgbClr val="B8521C">
                  <a:alpha val="90000"/>
                </a:srgbClr>
              </a:gs>
              <a:gs pos="100000">
                <a:srgbClr val="15181E">
                  <a:alpha val="9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839200" y="711200"/>
            <a:ext cx="2540000" cy="806450"/>
          </a:xfrm>
          <a:prstGeom prst="roundRect">
            <a:avLst>
              <a:gd name="adj" fmla="val 12598"/>
            </a:avLst>
          </a:prstGeom>
          <a:solidFill>
            <a:srgbClr val="F4F1EA"/>
          </a:solidFill>
          <a:ln/>
        </p:spPr>
      </p:sp>
      <p:pic>
        <p:nvPicPr>
          <p:cNvPr id="4" name="Image 0" descr="Logo Duoc UC">    </p:cNvPr>
          <p:cNvPicPr>
            <a:picLocks noChangeAspect="1"/>
          </p:cNvPicPr>
          <p:nvPr/>
        </p:nvPicPr>
        <p:blipFill>
          <a:blip r:embed="rId1"/>
          <a:srcRect l="0" r="0" t="-128" b="-128"/>
          <a:stretch/>
        </p:blipFill>
        <p:spPr>
          <a:xfrm>
            <a:off x="8991600" y="863600"/>
            <a:ext cx="2235200" cy="501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Y PROYECCIÓN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2161381"/>
            <a:ext cx="6278880" cy="651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terminar el carrito, la pasarela de pago con PayPal, la moderación del foro y la confirmación de compra por email.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12800" y="2990590"/>
            <a:ext cx="627888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reforzó nuestro interés en desarrollo de software y análisis de sistemas con metodologías ágiles, creando soluciones accesibles para usuarios sin experiencia técnica.</a:t>
            </a:r>
            <a:endParaRPr lang="en-US" sz="1700" dirty="0"/>
          </a:p>
        </p:txBody>
      </p:sp>
      <p:sp>
        <p:nvSpPr>
          <p:cNvPr id="8" name="Text 5"/>
          <p:cNvSpPr/>
          <p:nvPr>
            <p:ph type="title"/>
          </p:nvPr>
        </p:nvSpPr>
        <p:spPr>
          <a:xfrm>
            <a:off x="812800" y="502920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spc="-200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C Forge – Presentación Final APT">
  <a:themeElements>
    <a:clrScheme name="PC Forge – Presentación Final APT">
      <a:dk1>
        <a:srgbClr val="15181E"/>
      </a:dk1>
      <a:lt1>
        <a:srgbClr val="F4F1EA"/>
      </a:lt1>
      <a:dk2>
        <a:srgbClr val="2B2E32"/>
      </a:dk2>
      <a:lt2>
        <a:srgbClr val="BCBBB7"/>
      </a:lt2>
      <a:accent1>
        <a:srgbClr val="B85A1A"/>
      </a:accent1>
      <a:accent2>
        <a:srgbClr val="E8833A"/>
      </a:accent2>
      <a:accent3>
        <a:srgbClr val="1F6B4F"/>
      </a:accent3>
      <a:accent4>
        <a:srgbClr val="B8521C"/>
      </a:accent4>
      <a:accent5>
        <a:srgbClr val="C9CDD4"/>
      </a:accent5>
      <a:accent6>
        <a:srgbClr val="8A909A"/>
      </a:accent6>
      <a:hlink>
        <a:srgbClr val="0563C1"/>
      </a:hlink>
      <a:folHlink>
        <a:srgbClr val="954F72"/>
      </a:folHlink>
    </a:clrScheme>
    <a:fontScheme name="PC Forge – Presentación Final AP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 Forge – Presentación Final APT</dc:title>
  <dc:subject/>
  <dc:creator/>
  <cp:lastModifiedBy/>
  <cp:revision>1</cp:revision>
  <dcterms:created xsi:type="dcterms:W3CDTF">2026-10-19T19:45:10Z</dcterms:created>
  <dcterms:modified xsi:type="dcterms:W3CDTF">2026-10-19T19:45:10Z</dcterms:modified>
</cp:coreProperties>
</file>