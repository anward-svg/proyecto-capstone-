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bf62409cfd4c0e" /><Relationship Type="http://schemas.openxmlformats.org/officeDocument/2006/relationships/extended-properties" Target="/docProps/app.xml" Id="R49d3c4e0b76b4c5b" /><Relationship Type="http://schemas.openxmlformats.org/officeDocument/2006/relationships/officeDocument" Target="/ppt/presentation.xml" Id="R9aac1021a09442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67285482aa436c"/>
  </p:sldMasterIdLst>
  <p:notesMasterIdLst>
    <p:notesMasterId xmlns:r="http://schemas.openxmlformats.org/officeDocument/2006/relationships" r:id="R7eb23336ac4341c4"/>
  </p:notesMasterIdLst>
  <p:sldIdLst>
    <p:sldId xmlns:r="http://schemas.openxmlformats.org/officeDocument/2006/relationships" id="256" r:id="R0ddfce44ed0a46f3"/>
    <p:sldId xmlns:r="http://schemas.openxmlformats.org/officeDocument/2006/relationships" id="257" r:id="R51e351a003cf49ad"/>
    <p:sldId xmlns:r="http://schemas.openxmlformats.org/officeDocument/2006/relationships" id="258" r:id="R13610b1415a64a2e"/>
    <p:sldId xmlns:r="http://schemas.openxmlformats.org/officeDocument/2006/relationships" id="259" r:id="Rb157d2bf076a4415"/>
    <p:sldId xmlns:r="http://schemas.openxmlformats.org/officeDocument/2006/relationships" id="260" r:id="R4649565c13a546c6"/>
    <p:sldId xmlns:r="http://schemas.openxmlformats.org/officeDocument/2006/relationships" id="261" r:id="R1eee80be722a4235"/>
    <p:sldId xmlns:r="http://schemas.openxmlformats.org/officeDocument/2006/relationships" id="262" r:id="R975d87253824462b"/>
    <p:sldId xmlns:r="http://schemas.openxmlformats.org/officeDocument/2006/relationships" id="263" r:id="Raf74cdcec34946e1"/>
    <p:sldId xmlns:r="http://schemas.openxmlformats.org/officeDocument/2006/relationships" id="264" r:id="Re0c93329be454188"/>
    <p:sldId xmlns:r="http://schemas.openxmlformats.org/officeDocument/2006/relationships" id="265" r:id="Rd58d7ed5ef404007"/>
    <p:sldId xmlns:r="http://schemas.openxmlformats.org/officeDocument/2006/relationships" id="266" r:id="Rf9c816c01d1944bb"/>
    <p:sldId xmlns:r="http://schemas.openxmlformats.org/officeDocument/2006/relationships" id="267" r:id="Rd5d9bd5570b44201"/>
    <p:sldId xmlns:r="http://schemas.openxmlformats.org/officeDocument/2006/relationships" id="268" r:id="R7d783ae868d74aa3"/>
    <p:sldId xmlns:r="http://schemas.openxmlformats.org/officeDocument/2006/relationships" id="269" r:id="Re891cc737249402c"/>
    <p:sldId xmlns:r="http://schemas.openxmlformats.org/officeDocument/2006/relationships" id="270" r:id="R3d32431778e34762"/>
    <p:sldId xmlns:r="http://schemas.openxmlformats.org/officeDocument/2006/relationships" id="271" r:id="R1679addc9d6340ea"/>
    <p:sldId xmlns:r="http://schemas.openxmlformats.org/officeDocument/2006/relationships" id="272" r:id="Rbd290e4057b44657"/>
    <p:sldId xmlns:r="http://schemas.openxmlformats.org/officeDocument/2006/relationships" id="273" r:id="R6f0dd8f0f5c840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33775244a0440c" /><Relationship Type="http://schemas.openxmlformats.org/officeDocument/2006/relationships/slideMaster" Target="/ppt/slideMasters/slideMaster1.xml" Id="R6a67285482aa436c" /><Relationship Type="http://schemas.openxmlformats.org/officeDocument/2006/relationships/notesMaster" Target="/ppt/notesMasters/notesMaster1.xml" Id="R7eb23336ac4341c4" /><Relationship Type="http://schemas.openxmlformats.org/officeDocument/2006/relationships/presProps" Target="/ppt/presProps.xml" Id="R02d20a7db3bc4209" /><Relationship Type="http://schemas.openxmlformats.org/officeDocument/2006/relationships/viewProps" Target="/ppt/viewProps.xml" Id="Rc68c147f1d1a4c0e" /><Relationship Type="http://schemas.openxmlformats.org/officeDocument/2006/relationships/tableStyles" Target="/ppt/tableStyles.xml" Id="Rc9ae0c9252b54aa9" /><Relationship Type="http://schemas.openxmlformats.org/officeDocument/2006/relationships/slide" Target="/ppt/slides/slide1.xml" Id="R0ddfce44ed0a46f3" /><Relationship Type="http://schemas.openxmlformats.org/officeDocument/2006/relationships/slide" Target="/ppt/slides/slide2.xml" Id="R51e351a003cf49ad" /><Relationship Type="http://schemas.openxmlformats.org/officeDocument/2006/relationships/slide" Target="/ppt/slides/slide3.xml" Id="R13610b1415a64a2e" /><Relationship Type="http://schemas.openxmlformats.org/officeDocument/2006/relationships/slide" Target="/ppt/slides/slide4.xml" Id="Rb157d2bf076a4415" /><Relationship Type="http://schemas.openxmlformats.org/officeDocument/2006/relationships/slide" Target="/ppt/slides/slide5.xml" Id="R4649565c13a546c6" /><Relationship Type="http://schemas.openxmlformats.org/officeDocument/2006/relationships/slide" Target="/ppt/slides/slide6.xml" Id="R1eee80be722a4235" /><Relationship Type="http://schemas.openxmlformats.org/officeDocument/2006/relationships/slide" Target="/ppt/slides/slide7.xml" Id="R975d87253824462b" /><Relationship Type="http://schemas.openxmlformats.org/officeDocument/2006/relationships/slide" Target="/ppt/slides/slide8.xml" Id="Raf74cdcec34946e1" /><Relationship Type="http://schemas.openxmlformats.org/officeDocument/2006/relationships/slide" Target="/ppt/slides/slide9.xml" Id="Re0c93329be454188" /><Relationship Type="http://schemas.openxmlformats.org/officeDocument/2006/relationships/slide" Target="/ppt/slides/slide10.xml" Id="Rd58d7ed5ef404007" /><Relationship Type="http://schemas.openxmlformats.org/officeDocument/2006/relationships/slide" Target="/ppt/slides/slide11.xml" Id="Rf9c816c01d1944bb" /><Relationship Type="http://schemas.openxmlformats.org/officeDocument/2006/relationships/slide" Target="/ppt/slides/slide12.xml" Id="Rd5d9bd5570b44201" /><Relationship Type="http://schemas.openxmlformats.org/officeDocument/2006/relationships/slide" Target="/ppt/slides/slide13.xml" Id="R7d783ae868d74aa3" /><Relationship Type="http://schemas.openxmlformats.org/officeDocument/2006/relationships/slide" Target="/ppt/slides/slide14.xml" Id="Re891cc737249402c" /><Relationship Type="http://schemas.openxmlformats.org/officeDocument/2006/relationships/slide" Target="/ppt/slides/slide15.xml" Id="R3d32431778e34762" /><Relationship Type="http://schemas.openxmlformats.org/officeDocument/2006/relationships/slide" Target="/ppt/slides/slide16.xml" Id="R1679addc9d6340ea" /><Relationship Type="http://schemas.openxmlformats.org/officeDocument/2006/relationships/slide" Target="/ppt/slides/slide17.xml" Id="Rbd290e4057b44657" /><Relationship Type="http://schemas.openxmlformats.org/officeDocument/2006/relationships/slide" Target="/ppt/slides/slide18.xml" Id="R6f0dd8f0f5c840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4e180f31ac46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7add2f7b6848b3" /><Relationship Type="http://schemas.openxmlformats.org/officeDocument/2006/relationships/notesMaster" Target="/ppt/notesMasters/notesMaster1.xml" Id="Rb16b36e5106141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45c11ae73043b7" /><Relationship Type="http://schemas.openxmlformats.org/officeDocument/2006/relationships/notesMaster" Target="/ppt/notesMasters/notesMaster1.xml" Id="R2d20f16f0faa4a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fef3e261644e2a" /><Relationship Type="http://schemas.openxmlformats.org/officeDocument/2006/relationships/notesMaster" Target="/ppt/notesMasters/notesMaster1.xml" Id="R50dcb575ede645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faf8c92e194765" /><Relationship Type="http://schemas.openxmlformats.org/officeDocument/2006/relationships/notesMaster" Target="/ppt/notesMasters/notesMaster1.xml" Id="R2a2f8c4cb8dc41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a1cfef3dbd43a4" /><Relationship Type="http://schemas.openxmlformats.org/officeDocument/2006/relationships/notesMaster" Target="/ppt/notesMasters/notesMaster1.xml" Id="R04b01a17150645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024d1d805d4385" /><Relationship Type="http://schemas.openxmlformats.org/officeDocument/2006/relationships/notesMaster" Target="/ppt/notesMasters/notesMaster1.xml" Id="Ra568f6d29f2340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8c16924604465d" /><Relationship Type="http://schemas.openxmlformats.org/officeDocument/2006/relationships/notesMaster" Target="/ppt/notesMasters/notesMaster1.xml" Id="R4554fe082fe14f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4180af3b0349c9" /><Relationship Type="http://schemas.openxmlformats.org/officeDocument/2006/relationships/notesMaster" Target="/ppt/notesMasters/notesMaster1.xml" Id="Ref18c310ce2442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00983e31d346c0" /><Relationship Type="http://schemas.openxmlformats.org/officeDocument/2006/relationships/notesMaster" Target="/ppt/notesMasters/notesMaster1.xml" Id="R91931724396f4d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9efbcd7a424f00" /><Relationship Type="http://schemas.openxmlformats.org/officeDocument/2006/relationships/notesMaster" Target="/ppt/notesMasters/notesMaster1.xml" Id="Rd68ed69022774d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dc10da45e94a22" /><Relationship Type="http://schemas.openxmlformats.org/officeDocument/2006/relationships/notesMaster" Target="/ppt/notesMasters/notesMaster1.xml" Id="R468a03f743b548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de4d5dbbf14f93" /><Relationship Type="http://schemas.openxmlformats.org/officeDocument/2006/relationships/notesMaster" Target="/ppt/notesMasters/notesMaster1.xml" Id="Read84fce773d4c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4a10fbefc0440a" /><Relationship Type="http://schemas.openxmlformats.org/officeDocument/2006/relationships/notesMaster" Target="/ppt/notesMasters/notesMaster1.xml" Id="Rc55a11a2be6e4d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0a6a303b8d4174" /><Relationship Type="http://schemas.openxmlformats.org/officeDocument/2006/relationships/notesMaster" Target="/ppt/notesMasters/notesMaster1.xml" Id="R83f786ede32543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358a72698f4a02" /><Relationship Type="http://schemas.openxmlformats.org/officeDocument/2006/relationships/notesMaster" Target="/ppt/notesMasters/notesMaster1.xml" Id="R4421e0a23d8148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7ee21917804db2" /><Relationship Type="http://schemas.openxmlformats.org/officeDocument/2006/relationships/notesMaster" Target="/ppt/notesMasters/notesMaster1.xml" Id="R7cab8b63770c4a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fe26a43e364cfc" /><Relationship Type="http://schemas.openxmlformats.org/officeDocument/2006/relationships/notesMaster" Target="/ppt/notesMasters/notesMaster1.xml" Id="Rf6bc0e5c127d48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83ea4708874cb6" /><Relationship Type="http://schemas.openxmlformats.org/officeDocument/2006/relationships/notesMaster" Target="/ppt/notesMasters/notesMaster1.xml" Id="Rfb14b1c5b0514e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del proyecto PC Forge y datos del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Índice actualizado para la versión ampliada.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 la propuesta y de sus públicos objetivo.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general y objetivos específicos documentados en la guía.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Contexto de decisión de compra y armado de computadores.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Problema: información dispersa, incompatibilidad y brecha de conocimiento.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Solución: plataforma web, chatbot, orientación paso a paso y comunidad.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Factibilidad documentada; el control temprano del chatbot es una recomendación propuesta.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Scrum y responsabilidades basadas en los intereses declarados por los integrantes.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 propuesto de 18 semanas; debe validarse con el docente.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 funcional propuesta sin atribuir tecnologías no seleccionadas por el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Competencias e indicadores de calidad asociados al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Evidencias propuestas; la tabla entregada estaba pendiente de acuerdo con el docente.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Riesgos derivados de alcance, IA, datos y coordinación; mitigaciones propuestas.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Controles de seguridad propuestos para diseño, datos y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de negocio propuesto; sus hipótesis requieren validación.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conceptual generado para la presentación; no constituye software implementado.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  <a:p xmlns:a="http://schemas.openxmlformats.org/drawingml/2006/main">
            <a:r>
              <a:t>- mockup-pc-forge.png — concepto visual generado para esta presentación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y siguiente hito propuesto para iniciar la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- 1.5_GuiaEstudiante_Fase 1_Definicion Proyecto APT (Español).docx</a:t>
            </a:r>
          </a:p>
          <a:p xmlns:a="http://schemas.openxmlformats.org/drawingml/2006/main">
            <a:r>
              <a:t>- 1.4_APT122_FormativaFase1.docx</a:t>
            </a:r>
          </a:p>
          <a:p xmlns:a="http://schemas.openxmlformats.org/drawingml/2006/main">
            <a:r>
              <a:t>- Diarios personales de Anthony Ward y Vicente Becerra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9468d8cd048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0e9747628649f8" /><Relationship Type="http://schemas.openxmlformats.org/officeDocument/2006/relationships/slideLayout" Target="/ppt/slideLayouts/slideLayout1.xml" Id="Rf820bf11302846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20bf11302846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7c9c34e374a3f" /><Relationship Type="http://schemas.openxmlformats.org/officeDocument/2006/relationships/image" Target="/ppt/media/image.png" Id="R3bb53d2e78e54e27" /><Relationship Type="http://schemas.openxmlformats.org/officeDocument/2006/relationships/notesSlide" Target="/ppt/notesSlides/notesSlide1.xml" Id="R6e9cebab43b24d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548b29ee34efb" /><Relationship Type="http://schemas.openxmlformats.org/officeDocument/2006/relationships/notesSlide" Target="/ppt/notesSlides/notesSlide2.xml" Id="R25e01ea33d2e45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e4230400a4e84" /><Relationship Type="http://schemas.openxmlformats.org/officeDocument/2006/relationships/notesSlide" Target="/ppt/notesSlides/notesSlide3.xml" Id="R8531438d8fb448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93940a67f4a9d" /><Relationship Type="http://schemas.openxmlformats.org/officeDocument/2006/relationships/notesSlide" Target="/ppt/notesSlides/notesSlide4.xml" Id="Rb6870c18dc844d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f4b367f9e4eae" /><Relationship Type="http://schemas.openxmlformats.org/officeDocument/2006/relationships/image" Target="/ppt/media/image2.png" Id="R60bddc209b324df5" /><Relationship Type="http://schemas.openxmlformats.org/officeDocument/2006/relationships/notesSlide" Target="/ppt/notesSlides/notesSlide5.xml" Id="R3b3c0067e8294b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de06a38ee47a5" /><Relationship Type="http://schemas.openxmlformats.org/officeDocument/2006/relationships/notesSlide" Target="/ppt/notesSlides/notesSlide6.xml" Id="R670928ca17244d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e12bcdaf841ab" /><Relationship Type="http://schemas.openxmlformats.org/officeDocument/2006/relationships/notesSlide" Target="/ppt/notesSlides/notesSlide7.xml" Id="R8d980ad8f28b47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1b3b4da364674" /><Relationship Type="http://schemas.openxmlformats.org/officeDocument/2006/relationships/notesSlide" Target="/ppt/notesSlides/notesSlide8.xml" Id="Red860b9e9d9546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c9b5483ad424c" /><Relationship Type="http://schemas.openxmlformats.org/officeDocument/2006/relationships/notesSlide" Target="/ppt/notesSlides/notesSlide9.xml" Id="Rf3b740356b3a49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3bd9497564342" /><Relationship Type="http://schemas.openxmlformats.org/officeDocument/2006/relationships/notesSlide" Target="/ppt/notesSlides/notesSlide10.xml" Id="R8c3541ea58c146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0ddf447dd4980" /><Relationship Type="http://schemas.openxmlformats.org/officeDocument/2006/relationships/notesSlide" Target="/ppt/notesSlides/notesSlide11.xml" Id="R94fd4cf22c044b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c9176316a45da" /><Relationship Type="http://schemas.openxmlformats.org/officeDocument/2006/relationships/notesSlide" Target="/ppt/notesSlides/notesSlide12.xml" Id="R659f97bee4454f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826ca99fd4eff" /><Relationship Type="http://schemas.openxmlformats.org/officeDocument/2006/relationships/notesSlide" Target="/ppt/notesSlides/notesSlide13.xml" Id="R64c8e297041a4d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3f1c64c854897" /><Relationship Type="http://schemas.openxmlformats.org/officeDocument/2006/relationships/notesSlide" Target="/ppt/notesSlides/notesSlide14.xml" Id="R2dfa48a31aa644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d4a4ffb0e471e" /><Relationship Type="http://schemas.openxmlformats.org/officeDocument/2006/relationships/notesSlide" Target="/ppt/notesSlides/notesSlide15.xml" Id="Re9ab981349374f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6ddf254b34ada" /><Relationship Type="http://schemas.openxmlformats.org/officeDocument/2006/relationships/notesSlide" Target="/ppt/notesSlides/notesSlide16.xml" Id="R7348ffcc209544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f66d2ed094949" /><Relationship Type="http://schemas.openxmlformats.org/officeDocument/2006/relationships/image" Target="/ppt/media/image3.png" Id="R53711455d95e47ff" /><Relationship Type="http://schemas.openxmlformats.org/officeDocument/2006/relationships/notesSlide" Target="/ppt/notesSlides/notesSlide17.xml" Id="Re8e080e3332c4b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6e7e5358b4f66" /><Relationship Type="http://schemas.openxmlformats.org/officeDocument/2006/relationships/notesSlide" Target="/ppt/notesSlides/notesSlide18.xml" Id="R8f9b9ccd969c46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53d2e78e54e27"/>
          <a:srcRect xmlns:a="http://schemas.openxmlformats.org/drawingml/2006/main" l="26908" t="0" r="269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0"/>
            <a:ext cx="57721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124DBC6E-664E-4155-967B-F2E1974E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24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1094CB8D-0A05-4ED4-8941-B8A165F6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PROYECTO APT · FASE 1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59755E95-1DAD-4702-B025-C3D33F28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52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PC Forge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7CD6A6AF-66AD-4BD0-B581-AE250FD4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5334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Arma tu PC</a:t>
            </a:r>
          </a:p>
          <a:p xmlns:a="http://schemas.openxmlformats.org/drawingml/2006/main">
            <a:pPr algn="l">
              <a:buNone/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 confianza</a:t>
            </a:r>
          </a:p>
        </p:txBody>
      </p:sp>
      <p:cxnSp>
        <p:nvCxnSpPr>
          <p:cNvPr id="28" name="Conector recto de flecha 13"/>
          <p:cNvCxnSpPr/>
          <p:nvPr/>
        </p:nvCxnSpPr>
        <p:spPr>
          <a:xfrm xmlns:a="http://schemas.openxmlformats.org/drawingml/2006/main">
            <a:off x="457200" y="4333875"/>
            <a:ext cx="49530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769E0"/>
            </a:solidFill>
            <a:prstDash val="solid"/>
          </a:ln>
        </p:spPr>
      </p:cxn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B4432F06-8459-4493-9B18-61C27CEA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Foro especializado + asistencia inteligente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para elegir, validar y ensamblar componentes.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D05B2F99-66BD-4F95-91A7-9DD8347A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Anthony Ward · Vicente Becerra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Ingeniería en Informática · Sede Antonio Varas</a:t>
            </a:r>
          </a:p>
        </p:txBody>
      </p:sp>
    </p:spTree>
    <p:extLst>
      <p:ext uri="{BB962C8B-B14F-4D97-AF65-F5344CB8AC3E}">
        <p14:creationId xmlns:p14="http://schemas.microsoft.com/office/powerpoint/2010/main" val="1143124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69CE3C3C-AD60-4DB5-98E0-04C01A9C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ÍNDICE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0232B04-F64F-4A2D-841F-510D01A2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Del problema a una propuesta ejecutable</a:t>
            </a:r>
          </a:p>
        </p:txBody>
      </p:sp>
      <p:cxnSp>
        <p:nvCxnSpPr>
          <p:cNvPr id="78" name="Conector recto de flecha 27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442A0A20-354B-43F0-880F-98D20FD5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80" name="Conector recto de flecha 29"/>
          <p:cNvCxnSpPr/>
          <p:nvPr/>
        </p:nvCxnSpPr>
        <p:spPr>
          <a:xfrm xmlns:a="http://schemas.openxmlformats.org/drawingml/2006/main">
            <a:off x="400050" y="16573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C8803024-940A-454E-9A65-4ACF18BB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F3D78471-23D0-431E-991E-7687D291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02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Fundamentar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93DE0680-11C2-4259-BA89-7EB7B24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28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Introducción · Objetivos · Contexto · Problemática</a:t>
            </a:r>
          </a:p>
        </p:txBody>
      </p:sp>
      <p:cxnSp>
        <p:nvCxnSpPr>
          <p:cNvPr id="84" name="Conector recto de flecha 33"/>
          <p:cNvCxnSpPr/>
          <p:nvPr/>
        </p:nvCxnSpPr>
        <p:spPr>
          <a:xfrm xmlns:a="http://schemas.openxmlformats.org/drawingml/2006/main">
            <a:off x="400050" y="2495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D6D754DE-981B-4C17-92A7-EE40C09D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7DB31A31-E54F-4E23-8602-97E3FDC6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38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Definir la solución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EF2162CF-FD89-4239-9EB3-38698705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Solución · Factibilidad</a:t>
            </a:r>
          </a:p>
        </p:txBody>
      </p:sp>
      <p:cxnSp>
        <p:nvCxnSpPr>
          <p:cNvPr id="88" name="Conector recto de flecha 37"/>
          <p:cNvCxnSpPr/>
          <p:nvPr/>
        </p:nvCxnSpPr>
        <p:spPr>
          <a:xfrm xmlns:a="http://schemas.openxmlformats.org/drawingml/2006/main">
            <a:off x="400050" y="3333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95EC09B-2BE6-4356-9913-AE9C9CC3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EE387202-43AD-4773-9DED-B8D37CED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76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Planificar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BE45D107-833E-4CF9-B898-7CB59B2E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052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Metodología · Roles · Plan · Arquitectura</a:t>
            </a:r>
          </a:p>
        </p:txBody>
      </p:sp>
      <p:cxnSp>
        <p:nvCxnSpPr>
          <p:cNvPr id="92" name="Conector recto de flecha 41"/>
          <p:cNvCxnSpPr/>
          <p:nvPr/>
        </p:nvCxnSpPr>
        <p:spPr>
          <a:xfrm xmlns:a="http://schemas.openxmlformats.org/drawingml/2006/main">
            <a:off x="400050" y="4171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89A8916-2244-40E1-898A-832D4AB7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57EDBC19-5303-4AC5-9A6A-9DAF42D5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148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Demostrar calidad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2553A4CF-49E1-4123-945D-766804AD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434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Competencias · Evidencias · Riesgos · Seguridad</a:t>
            </a:r>
          </a:p>
        </p:txBody>
      </p:sp>
      <p:cxnSp>
        <p:nvCxnSpPr>
          <p:cNvPr id="96" name="Conector recto de flecha 45"/>
          <p:cNvCxnSpPr/>
          <p:nvPr/>
        </p:nvCxnSpPr>
        <p:spPr>
          <a:xfrm xmlns:a="http://schemas.openxmlformats.org/drawingml/2006/main">
            <a:off x="400050" y="50101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D841BA41-B6C2-458C-B51E-B8F2249D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394CE87C-DCCF-40B1-BCA1-F8E2E41F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530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Validar viabilidad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0B4C999E-ABF2-4178-BA87-F5CE0F87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816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Modelo de negocio · Mockup · Conclusión</a:t>
            </a:r>
          </a:p>
        </p:txBody>
      </p:sp>
      <p:cxnSp>
        <p:nvCxnSpPr>
          <p:cNvPr id="100" name="Conector recto de flecha 49"/>
          <p:cNvCxnSpPr/>
          <p:nvPr/>
        </p:nvCxnSpPr>
        <p:spPr>
          <a:xfrm xmlns:a="http://schemas.openxmlformats.org/drawingml/2006/main">
            <a:off x="400050" y="58483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919360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92D6BB16-4874-4C49-A2E0-4E11990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3C6185F-C339-4F39-AC77-1EF07C00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Decidir, validar y aprender en un solo lugar</a:t>
            </a:r>
          </a:p>
        </p:txBody>
      </p:sp>
      <p:cxnSp>
        <p:nvCxnSpPr>
          <p:cNvPr id="33" name="Conector recto de flecha 18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29A32F4-5556-489E-B63B-40D3B6E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B06C3DFC-AF35-4E84-845E-E404FA40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19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PC Forge reúne la orientación que hoy está dispersa.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C426B620-FC7D-42A2-89E8-7D7C31C6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Una plataforma web para usuarios novatos y experimentados, respaldada por un asistente de IA y una comunidad especializada.</a:t>
            </a:r>
          </a:p>
        </p:txBody>
      </p:sp>
      <p:cxnSp>
        <p:nvCxnSpPr>
          <p:cNvPr id="37" name="Conector recto de flecha 22"/>
          <p:cNvCxnSpPr/>
          <p:nvPr/>
        </p:nvCxnSpPr>
        <p:spPr>
          <a:xfrm xmlns:a="http://schemas.openxmlformats.org/drawingml/2006/main">
            <a:off x="7086600" y="1657350"/>
            <a:ext cx="95" cy="37338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9F4B49E1-8BCD-40A3-9C5E-A2CECD8B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764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C2E1D98A-A0F8-4CC7-B9AB-132C1083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76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Decidir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F649A366-26D7-41A4-B5E6-5C8C0A87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383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Traducir necesidades y presupuesto en una configuración posible.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BBB75957-85A4-4497-A4AD-CB573924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C999E562-9738-4712-9497-C6277E3C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2A9EDB20-FFAF-4B03-8073-EF757724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Detectar incompatibilidades antes de realizar una compra.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5028E6F0-F895-4DA8-A74D-CD91BA9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291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62A2CF6-8825-4BC7-B419-FB4E50A3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29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Aprender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3A26B793-7A8A-4973-8BC2-841786B2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910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Explicar el porqué de cada recomendación con IA, guías y foro.</a:t>
            </a:r>
          </a:p>
        </p:txBody>
      </p:sp>
    </p:spTree>
    <p:extLst>
      <p:ext uri="{BB962C8B-B14F-4D97-AF65-F5344CB8AC3E}">
        <p14:creationId xmlns:p14="http://schemas.microsoft.com/office/powerpoint/2010/main" val="16819781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B3A19345-9340-4045-8A90-4A12F20B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OBJETIVOS DOCUMENTADOS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AB71B06-976F-45AF-8171-E188DBAA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 objetivo general orienta cuatro resultados específicos</a:t>
            </a:r>
          </a:p>
        </p:txBody>
      </p:sp>
      <p:cxnSp>
        <p:nvCxnSpPr>
          <p:cNvPr id="44" name="Conector recto de flecha 33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208C870-3FD6-49CF-879E-EF904B9F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6" name="Conector recto de flecha 35"/>
          <p:cNvCxnSpPr/>
          <p:nvPr/>
        </p:nvCxnSpPr>
        <p:spPr>
          <a:xfrm xmlns:a="http://schemas.openxmlformats.org/drawingml/2006/main">
            <a:off x="781050" y="3162300"/>
            <a:ext cx="103822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Elipse 5">
            <a:extLst xmlns:a="http://schemas.openxmlformats.org/drawingml/2006/main">
              <a:ext uri="{FF2B5EF4-FFF2-40B4-BE49-F238E27FC236}">
                <a16:creationId xmlns:a16="http://schemas.microsoft.com/office/drawing/2014/main" id="{5E27CC28-949D-4D8D-A2B8-4C4981D3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99A8580-FE92-4F9A-B574-BD078B5F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OBJ. 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A8EEF55C-CA49-4A7F-98FC-75EA098B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  </a:t>
            </a: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Desarrollar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C79F713-98A6-453F-8050-ACA409FA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Una plataforma web interactiva y un foro especializado.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CC7AE063-4930-4D9B-A7F7-FFB6641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BA84D76-1D8F-4E73-9D69-32ABC893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Resultado: plataforma web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D8CC86C7-C0E3-4034-9C73-FDC4DE39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B9AD822D-C649-416E-9C49-985312FD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OBJ. 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15EB0435-646B-405A-83C9-8372FF6D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81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  </a:t>
            </a: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Implementar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1E20978-FA5C-46CA-ABA4-8F4D005C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38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Un chatbot con asistencia personalizada para armar PCs.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5B1DADF-FAC3-4CF2-AE74-0295BE4B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815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F85AB51-AAC5-494C-B993-4B185FAE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2445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Resultado: chatbot funcional</a:t>
            </a:r>
          </a:p>
        </p:txBody>
      </p:sp>
      <p:sp>
        <p:nvSpPr>
          <p:cNvPr id="18" name="Elipse 17">
            <a:extLst xmlns:a="http://schemas.openxmlformats.org/drawingml/2006/main">
              <a:ext uri="{FF2B5EF4-FFF2-40B4-BE49-F238E27FC236}">
                <a16:creationId xmlns:a16="http://schemas.microsoft.com/office/drawing/2014/main" id="{71BE31F2-CD71-46FC-9942-E792E517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BA53F1AF-7DC6-412A-82E1-050440EA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28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OBJ. 3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A7238D03-9499-4760-99A3-C6DCA0C7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03  </a:t>
            </a: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Integrar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845866BA-B8D8-4654-B077-AD27B6F8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38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Técnicas de deep learning para mejorar las respuestas.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DB74D973-A6C8-46CE-8DC7-DF39A524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815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66173518-6EE3-4989-87FD-C95BF803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2445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Resultado: mayor precisión</a:t>
            </a:r>
          </a:p>
        </p:txBody>
      </p:sp>
      <p:sp>
        <p:nvSpPr>
          <p:cNvPr id="24" name="Elipse 23">
            <a:extLst xmlns:a="http://schemas.openxmlformats.org/drawingml/2006/main">
              <a:ext uri="{FF2B5EF4-FFF2-40B4-BE49-F238E27FC236}">
                <a16:creationId xmlns:a16="http://schemas.microsoft.com/office/drawing/2014/main" id="{3D7A0A1A-9A04-4A96-8C69-5B6827F1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4B6C48E8-14ED-4238-9E4B-71BE5C87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28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OBJ. 4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864D69C5-9F98-4870-8E8C-C0C75DBF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04  </a:t>
            </a: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Asegurar</a:t>
            </a:r>
          </a:p>
        </p:txBody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04DFC6E7-23D1-48B6-A724-C1E3D30F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38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Una solución alineada con necesidades y expectativas.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1EBE395A-BE7F-4AFE-A879-929B33F3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815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19103715-F323-456D-93C1-0CB73CE7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2445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Resultado: experiencia validada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828C441E-9E05-4B36-B9F0-21C2212C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OBJETIVO GENERAL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5D4B1505-4DD1-47B4-B326-E6444C03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674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Desarrollar y lanzar PC Forge para orientar el armado y la selección según uso y presupuesto.</a:t>
            </a:r>
          </a:p>
        </p:txBody>
      </p:sp>
    </p:spTree>
    <p:extLst>
      <p:ext uri="{BB962C8B-B14F-4D97-AF65-F5344CB8AC3E}">
        <p14:creationId xmlns:p14="http://schemas.microsoft.com/office/powerpoint/2010/main" val="2134126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134F621A-9F7F-4026-9015-4C34A521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DB86B8C-798C-4EB9-98E6-3A0594CE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Armar un PC exige coordinar decisiones interdependientes</a:t>
            </a:r>
          </a:p>
        </p:txBody>
      </p:sp>
      <p:cxnSp>
        <p:nvCxnSpPr>
          <p:cNvPr id="26" name="Conector recto de flecha 17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B2EEB12-BFE2-416E-B385-B32215DB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6600EB57-3943-432B-972A-C252C8A4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Uso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F2C1A8C-7169-4918-9A19-080A34F1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define la exigencia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B5653F0F-4FCA-47A3-A19C-55947C88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Presupuesto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92DEF0D8-6AB5-4A23-8F6F-932C505E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65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limita las alternativas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03C60D0F-14FC-4FBD-AF82-26425C50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Compatibilidad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16D09D1A-ED3E-46EC-A14F-F568BCA5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conecta cada pieza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A6A84D05-6B87-43A5-9126-A1930BC3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386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Disponibilidad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0FDB6C77-0DE8-4E27-B3DA-5AECAD8E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obliga a recalcular</a:t>
            </a:r>
          </a:p>
        </p:txBody>
      </p:sp>
      <p:pic>
        <p:nvPicPr>
          <p:cNvPr id="36" name="Imagen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ddc209b324df5"/>
          <a:srcRect xmlns:a="http://schemas.openxmlformats.org/drawingml/2006/main" l="0" t="15969" r="0" b="159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1628775"/>
            <a:ext cx="8648700" cy="3924300"/>
          </a:xfrm>
          <a:prstGeom xmlns:a="http://schemas.openxmlformats.org/drawingml/2006/main" prst="roundRect">
            <a:avLst>
              <a:gd name="adj" fmla="val 2427"/>
            </a:avLst>
          </a:prstGeom>
        </p:spPr>
      </p:pic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7505D0A6-0C70-4A5D-8082-CBB82C04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53075"/>
            <a:ext cx="864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0B6C3A48-FA34-439B-A623-1FFC3CA9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864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usuario no necesita más información: necesita orientación confiable.</a:t>
            </a:r>
          </a:p>
        </p:txBody>
      </p:sp>
    </p:spTree>
    <p:extLst>
      <p:ext uri="{BB962C8B-B14F-4D97-AF65-F5344CB8AC3E}">
        <p14:creationId xmlns:p14="http://schemas.microsoft.com/office/powerpoint/2010/main" val="18782278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EF04A0CD-0F1F-4B82-A3C6-B0682195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PROBLEMÁTICA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C624826-3F0F-4E73-B29F-AD53BC59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información existe, pero no está conectada</a:t>
            </a:r>
          </a:p>
        </p:txBody>
      </p:sp>
      <p:cxnSp>
        <p:nvCxnSpPr>
          <p:cNvPr id="73" name="Conector recto de flecha 28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5861522-7C51-4F69-B23E-D8042DC4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75" name="Conector recto de flecha 30"/>
          <p:cNvCxnSpPr/>
          <p:nvPr/>
        </p:nvCxnSpPr>
        <p:spPr>
          <a:xfrm xmlns:a="http://schemas.openxmlformats.org/drawingml/2006/main">
            <a:off x="857250" y="2552700"/>
            <a:ext cx="100965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6" name="Elipse 5">
            <a:extLst xmlns:a="http://schemas.openxmlformats.org/drawingml/2006/main">
              <a:ext uri="{FF2B5EF4-FFF2-40B4-BE49-F238E27FC236}">
                <a16:creationId xmlns:a16="http://schemas.microsoft.com/office/drawing/2014/main" id="{8EFAF72C-F91E-4086-8FD1-BE47CDDB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76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B3A1C505-AA22-4E4D-A462-F3FEDBDC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E6897FF8-5825-4654-91A8-D2176B01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Información fragmentada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2C90A13A-E2C4-4EF2-90FF-825D5A61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Foros, videos y fichas técnicas responden partes distintas del problema.</a:t>
            </a:r>
          </a:p>
        </p:txBody>
      </p:sp>
      <p:cxnSp>
        <p:nvCxnSpPr>
          <p:cNvPr id="80" name="Conector recto de flecha 35"/>
          <p:cNvCxnSpPr/>
          <p:nvPr/>
        </p:nvCxnSpPr>
        <p:spPr>
          <a:xfrm xmlns:a="http://schemas.openxmlformats.org/drawingml/2006/main">
            <a:off x="400050" y="42481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FF66FF6C-C587-4317-BAB9-874750CD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Dudas y tiempo perdido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7E6C800B-CEAD-4669-9DAF-52BF7F2E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B2C93F79-0021-4554-99D3-486A738F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8DF4EA2-014B-40DF-94E6-639A751F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Compatibilidad compleja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B9C989D5-036F-4C1C-80B6-77B98D2D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05125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Sockets, potencia, formato y rendimiento deben evaluarse en conjunto.</a:t>
            </a:r>
          </a:p>
        </p:txBody>
      </p:sp>
      <p:cxnSp>
        <p:nvCxnSpPr>
          <p:cNvPr id="86" name="Conector recto de flecha 41"/>
          <p:cNvCxnSpPr/>
          <p:nvPr/>
        </p:nvCxnSpPr>
        <p:spPr>
          <a:xfrm xmlns:a="http://schemas.openxmlformats.org/drawingml/2006/main">
            <a:off x="4248150" y="42481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AFC70D44-CBFC-4694-A8A8-DFC7D802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196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Compras equivocadas</a:t>
            </a:r>
          </a:p>
        </p:txBody>
      </p:sp>
      <p:sp>
        <p:nvSpPr>
          <p:cNvPr id="18" name="Elipse 17">
            <a:extLst xmlns:a="http://schemas.openxmlformats.org/drawingml/2006/main">
              <a:ext uri="{FF2B5EF4-FFF2-40B4-BE49-F238E27FC236}">
                <a16:creationId xmlns:a16="http://schemas.microsoft.com/office/drawing/2014/main" id="{7000E785-BFE6-43D0-A68F-A184C22A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3EDF7EEA-7BA7-44C3-BBB0-E77681A4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7E35DA5-EA2D-4E88-B7A4-1BE9C075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Consejos sin contexto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5AAAECE7-43FB-453D-9D5F-75984518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Una recomendación genérica ignora el uso real y el presupuesto disponible.</a:t>
            </a:r>
          </a:p>
        </p:txBody>
      </p:sp>
      <p:cxnSp>
        <p:nvCxnSpPr>
          <p:cNvPr id="92" name="Conector recto de flecha 47"/>
          <p:cNvCxnSpPr/>
          <p:nvPr/>
        </p:nvCxnSpPr>
        <p:spPr>
          <a:xfrm xmlns:a="http://schemas.openxmlformats.org/drawingml/2006/main">
            <a:off x="8096250" y="42481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1273461A-9F48-4C3C-80CC-4842A459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96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Configuraciones desalineadas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7CAEDD07-D304-4B09-B161-F3FE5813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54FFFE8C-81BC-45C6-974D-33F3C7E9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Consecuencia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23AB7C9D-2400-48C0-9F6A-2C15BFD9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149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decisión puede ser costosa antes de instalar una sola pieza.</a:t>
            </a:r>
          </a:p>
        </p:txBody>
      </p:sp>
    </p:spTree>
    <p:extLst>
      <p:ext uri="{BB962C8B-B14F-4D97-AF65-F5344CB8AC3E}">
        <p14:creationId xmlns:p14="http://schemas.microsoft.com/office/powerpoint/2010/main" val="17539639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FE33FC31-7014-4457-B902-281F6B22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SOLUCIÓN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8317212-654C-44E1-8E90-DA23F391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PC Forge guía cada decisión antes de la compra</a:t>
            </a:r>
          </a:p>
        </p:txBody>
      </p:sp>
      <p:cxnSp>
        <p:nvCxnSpPr>
          <p:cNvPr id="35" name="Conector recto de flecha 22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EA706AFA-6D54-4ACF-985A-A3A05E12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37" name="Conector recto de flecha 24"/>
          <p:cNvCxnSpPr/>
          <p:nvPr/>
        </p:nvCxnSpPr>
        <p:spPr>
          <a:xfrm xmlns:a="http://schemas.openxmlformats.org/drawingml/2006/main">
            <a:off x="2228850" y="30289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DCBF4"/>
            </a:solidFill>
            <a:prstDash val="solid"/>
          </a:ln>
        </p:spPr>
      </p:cxnSp>
      <p:cxnSp>
        <p:nvCxnSpPr>
          <p:cNvPr id="38" name="Conector recto de flecha 25"/>
          <p:cNvCxnSpPr/>
          <p:nvPr/>
        </p:nvCxnSpPr>
        <p:spPr>
          <a:xfrm xmlns:a="http://schemas.openxmlformats.org/drawingml/2006/main">
            <a:off x="6838950" y="30289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DCBF4"/>
            </a:solidFill>
            <a:prstDash val="solid"/>
          </a:ln>
        </p:spPr>
      </p:cxnSp>
      <p:sp>
        <p:nvSpPr>
          <p:cNvPr id="7" name="Elipse 6">
            <a:extLst xmlns:a="http://schemas.openxmlformats.org/drawingml/2006/main">
              <a:ext uri="{FF2B5EF4-FFF2-40B4-BE49-F238E27FC236}">
                <a16:creationId xmlns:a16="http://schemas.microsoft.com/office/drawing/2014/main" id="{02A86BA6-170B-4A85-B66A-54845133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7367CDCF-47ED-40E1-8C58-712C2CE6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6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757E0737-A830-4985-9505-A23993A2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290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Entender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4257FDE6-F070-4EDF-96F9-29C3BEBF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4305300"/>
            <a:ext cx="2743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Uso, presupuesto y prioridades del usuario.</a:t>
            </a:r>
          </a:p>
        </p:txBody>
      </p:sp>
      <p:sp>
        <p:nvSpPr>
          <p:cNvPr id="11" name="Elipse 10">
            <a:extLst xmlns:a="http://schemas.openxmlformats.org/drawingml/2006/main">
              <a:ext uri="{FF2B5EF4-FFF2-40B4-BE49-F238E27FC236}">
                <a16:creationId xmlns:a16="http://schemas.microsoft.com/office/drawing/2014/main" id="{DD64ABA8-62D8-468E-AA9B-81D3AA13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431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4791D6AF-3F4B-410D-8F1E-B3925315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14625"/>
            <a:ext cx="106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18DCD15-F584-4791-8DCB-EAF8C81F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290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999EACE7-303F-44CC-BE74-F0B194F2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05300"/>
            <a:ext cx="2743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Compatibilidad, equilibrio y restricciones técnicas.</a:t>
            </a:r>
          </a:p>
        </p:txBody>
      </p:sp>
      <p:sp>
        <p:nvSpPr>
          <p:cNvPr id="15" name="Elipse 14">
            <a:extLst xmlns:a="http://schemas.openxmlformats.org/drawingml/2006/main">
              <a:ext uri="{FF2B5EF4-FFF2-40B4-BE49-F238E27FC236}">
                <a16:creationId xmlns:a16="http://schemas.microsoft.com/office/drawing/2014/main" id="{8B473BAB-12F2-4762-8515-04A70F8A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431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71436FFC-BCE4-4125-BE93-D5BF16DD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14625"/>
            <a:ext cx="106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4016D748-3C85-4FBA-84FF-1EE16948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Acompañar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1F9F6061-4987-4850-AA72-D33AF1FF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05300"/>
            <a:ext cx="2743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Asistente IA, guías paso a paso y comunidad.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760FC3E2-BF97-43EA-B210-5057696E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6F959673-D5E7-4947-81DE-8F02A477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864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Propuesta de valor: recomendaciones explicables y una ruta de armado personalizada.</a:t>
            </a:r>
          </a:p>
        </p:txBody>
      </p:sp>
    </p:spTree>
    <p:extLst>
      <p:ext uri="{BB962C8B-B14F-4D97-AF65-F5344CB8AC3E}">
        <p14:creationId xmlns:p14="http://schemas.microsoft.com/office/powerpoint/2010/main" val="554068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8E481C18-F042-4DB5-9FD5-9F202409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FACTIBILIDAD DOCUMENTADA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EDFE3D73-E23A-4079-B14B-26D32A1B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 proyecto es viable si la IA se prueba desde el inicio</a:t>
            </a:r>
          </a:p>
        </p:txBody>
      </p:sp>
      <p:cxnSp>
        <p:nvCxnSpPr>
          <p:cNvPr id="93" name="Conector recto de flecha 38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7E98B3C4-AF96-4119-8192-125DEF55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3589A09C-5E5C-4699-AE8F-15EBC2BE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Fundamento documentado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65D21978-60F3-484B-9DBD-CEABF2F5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 equipo dispone de experiencia web, computadores adecuados y un semestre planificable; entrenar la IA es la condición más sensible.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B2E100D8-A3C8-4712-AB9E-BEDDE09E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F6057F56-4799-4889-BED0-7262B3C9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Equipo</a:t>
            </a:r>
          </a:p>
        </p:txBody>
      </p:sp>
      <p:cxnSp>
        <p:nvCxnSpPr>
          <p:cNvPr id="99" name="Conector recto de flecha 44"/>
          <p:cNvCxnSpPr/>
          <p:nvPr/>
        </p:nvCxnSpPr>
        <p:spPr>
          <a:xfrm xmlns:a="http://schemas.openxmlformats.org/drawingml/2006/main">
            <a:off x="400050" y="3638550"/>
            <a:ext cx="33337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7B591F8B-D5AE-4A21-880A-DF2FE9B7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7A3D843B-6E08-4C91-AEA8-17876570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Experiencia en desarrollo web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DB2AA75E-7B70-4490-A5D4-54E9E50D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86B13B5F-D68A-401E-AC67-90756B3B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Intereses complementarios en QA e IA</a:t>
            </a:r>
          </a:p>
        </p:txBody>
      </p:sp>
      <p:sp>
        <p:nvSpPr>
          <p:cNvPr id="14" name="Elipse 13">
            <a:extLst xmlns:a="http://schemas.openxmlformats.org/drawingml/2006/main">
              <a:ext uri="{FF2B5EF4-FFF2-40B4-BE49-F238E27FC236}">
                <a16:creationId xmlns:a16="http://schemas.microsoft.com/office/drawing/2014/main" id="{1DE4F619-4F6D-4D40-BC45-DFC7433F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FB5F20A4-C7CC-45CA-8F62-0A28F307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Trabajo coordinado durante el semestre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BBCAC094-1019-4D92-979D-4F8ACE32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19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AFDA623-47BD-4732-8618-AECDCBEF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527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Recursos</a:t>
            </a:r>
          </a:p>
        </p:txBody>
      </p:sp>
      <p:cxnSp>
        <p:nvCxnSpPr>
          <p:cNvPr id="108" name="Conector recto de flecha 53"/>
          <p:cNvCxnSpPr/>
          <p:nvPr/>
        </p:nvCxnSpPr>
        <p:spPr>
          <a:xfrm xmlns:a="http://schemas.openxmlformats.org/drawingml/2006/main">
            <a:off x="4152900" y="3638550"/>
            <a:ext cx="333375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769E0"/>
            </a:solidFill>
            <a:prstDash val="solid"/>
          </a:ln>
        </p:spPr>
      </p:cxn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9E66457E-74F9-470D-8015-5C237112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EFAE444A-CE8C-4725-BF7E-F156000E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Computadores con capacidad suficiente</a:t>
            </a:r>
          </a:p>
        </p:txBody>
      </p:sp>
      <p:sp>
        <p:nvSpPr>
          <p:cNvPr id="21" name="Elipse 20">
            <a:extLst xmlns:a="http://schemas.openxmlformats.org/drawingml/2006/main">
              <a:ext uri="{FF2B5EF4-FFF2-40B4-BE49-F238E27FC236}">
                <a16:creationId xmlns:a16="http://schemas.microsoft.com/office/drawing/2014/main" id="{9A34462F-29DB-442E-999E-A1E03FBE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13D3F45-D944-4DA7-B6A8-051EEC2C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Herramientas de desarrollo disponibles</a:t>
            </a:r>
          </a:p>
        </p:txBody>
      </p:sp>
      <p:sp>
        <p:nvSpPr>
          <p:cNvPr id="23" name="Elipse 22">
            <a:extLst xmlns:a="http://schemas.openxmlformats.org/drawingml/2006/main">
              <a:ext uri="{FF2B5EF4-FFF2-40B4-BE49-F238E27FC236}">
                <a16:creationId xmlns:a16="http://schemas.microsoft.com/office/drawing/2014/main" id="{9185F3E7-1C03-4988-8211-BED1049B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A1CDBB9-C981-4FDB-99B3-7462B48E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01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Scrum para adaptarse y priorizar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25500592-FC30-4B26-8A93-67723D27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19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F6197DC6-E902-47FB-8742-E786F23B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52775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Condición crítica</a:t>
            </a:r>
          </a:p>
        </p:txBody>
      </p:sp>
      <p:cxnSp>
        <p:nvCxnSpPr>
          <p:cNvPr id="117" name="Conector recto de flecha 62"/>
          <p:cNvCxnSpPr/>
          <p:nvPr/>
        </p:nvCxnSpPr>
        <p:spPr>
          <a:xfrm xmlns:a="http://schemas.openxmlformats.org/drawingml/2006/main">
            <a:off x="7905750" y="3638550"/>
            <a:ext cx="3886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CDD27036-94F1-46FB-B253-A9D83745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D75F70D-3789-42F0-9D98-5DF4AA60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Entrenamiento del chatbot</a:t>
            </a:r>
          </a:p>
        </p:txBody>
      </p:sp>
      <p:sp>
        <p:nvSpPr>
          <p:cNvPr id="30" name="Elipse 29">
            <a:extLst xmlns:a="http://schemas.openxmlformats.org/drawingml/2006/main">
              <a:ext uri="{FF2B5EF4-FFF2-40B4-BE49-F238E27FC236}">
                <a16:creationId xmlns:a16="http://schemas.microsoft.com/office/drawing/2014/main" id="{9058A3AD-1F45-4BE3-91D3-7FE8CD0D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EB9CDB89-4CC4-4600-B1C2-692BDF4C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5770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Calidad de la información</a:t>
            </a:r>
          </a:p>
        </p:txBody>
      </p:sp>
      <p:sp>
        <p:nvSpPr>
          <p:cNvPr id="32" name="Elipse 31">
            <a:extLst xmlns:a="http://schemas.openxmlformats.org/drawingml/2006/main">
              <a:ext uri="{FF2B5EF4-FFF2-40B4-BE49-F238E27FC236}">
                <a16:creationId xmlns:a16="http://schemas.microsoft.com/office/drawing/2014/main" id="{EADECEC4-08EB-42C2-9435-8C0461FE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0C42920D-6852-4E42-BACD-6F662742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1015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Alcance frente al tiempo disponible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EEF4DB80-7302-4258-8E47-45CC12EE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4CC151EB-1C82-48FD-B7AA-D06121C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56ECFE2E-7133-478E-BF14-0764A4ED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78167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prototipar primero el chatbot y conservar una alternativa con reglas validadas</a:t>
            </a:r>
          </a:p>
        </p:txBody>
      </p:sp>
    </p:spTree>
    <p:extLst>
      <p:ext uri="{BB962C8B-B14F-4D97-AF65-F5344CB8AC3E}">
        <p14:creationId xmlns:p14="http://schemas.microsoft.com/office/powerpoint/2010/main" val="13160619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9E882BA1-4AC1-4585-B320-A4D48209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METODOLOGÍA · ROLES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67AC08C-9072-4C86-A4A4-FDB8276C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Scrum adapta el trabajo y distribuye responsabilidades</a:t>
            </a:r>
          </a:p>
        </p:txBody>
      </p:sp>
      <p:cxnSp>
        <p:nvCxnSpPr>
          <p:cNvPr id="83" name="Conector recto de flecha 36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C177AE96-A673-4F65-BE7E-5D77AE4C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FA2FDA7A-5E35-4B92-AFD6-85DC3CDA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Ciclos cortos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31505449-4EF3-4EBF-9A6E-1B4B7424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Cada sprint transforma una hipótesis en una evidencia revisable.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3166114F-6B6E-4B24-90FA-E8E7A67B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64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5DDFC97E-7BA1-4B8B-B7FB-DC17D3D2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825C76FC-FBC7-44F6-94F4-05F4EBD0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24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Planificar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4422B2A1-BFD5-4D6D-A2AA-F8777B5B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priorizar backlog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8A45EE7-7E9A-4632-929A-FFAC9935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64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33CAF968-924F-4856-A807-122708FE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D3DBA2BE-DA72-46AD-A017-512BCBF3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9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Construir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DB14A28-C63D-4419-9D8D-CE93C08B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766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integrar incremento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1E433EC-A682-4E51-A1AB-39D6CF7D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64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BBE2548E-AFA1-48A5-8074-F2DD2C20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CAB0D635-2287-4555-9183-6618F6A3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957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1AF6F13-6DB4-4FB3-9FB5-2BDA7983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624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probar con criterios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EB9D50F8-5E36-4C9C-9CE9-E153857B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64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0A170F1E-350C-43C0-96A3-CAD66717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720C05-A51C-4490-96BF-32A8792B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81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Mejorar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4CEAC03D-F66D-4066-B7CF-D9DDB862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482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ajustar el siguiente sprint</a:t>
            </a:r>
          </a:p>
        </p:txBody>
      </p:sp>
      <p:cxnSp>
        <p:nvCxnSpPr>
          <p:cNvPr id="103" name="Conector recto de flecha 56"/>
          <p:cNvCxnSpPr/>
          <p:nvPr/>
        </p:nvCxnSpPr>
        <p:spPr>
          <a:xfrm xmlns:a="http://schemas.openxmlformats.org/drawingml/2006/main">
            <a:off x="5905500" y="1657350"/>
            <a:ext cx="95" cy="4095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54EA96CA-845E-4F31-9173-2013DEC4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Fortalezas y responsabilidades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2FF8D770-37E8-4F11-BA8E-0CDEB0CB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Basadas en los intereses profesionales declarados.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6681EF69-BEA8-4E91-A784-F4A5AE5E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B60E9B9-1FA5-4F81-AFA7-11F1C1B0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Anthony · QA e integración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CA0F870E-A773-4134-A53C-E5209F23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487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Pruebas, criterios de aceptación, integración de plataformas y trazabilidad.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12FB2A46-FE4D-473D-8A30-72BBACA8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A1534B9C-AF63-43B2-9C85-5E99CBF2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4335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Vicente · IA, datos y backend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FCCA39BF-54EB-43FF-9E6F-AD0C4A23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05300"/>
            <a:ext cx="487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Servicio inteligente, datos de conocimiento y lógica de recomendación.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53D00A26-87D8-4590-8DA0-D6D7B067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006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7C413C00-D73F-41D9-BDD2-4AFAFD68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0065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Responsabilidad compartida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672A5B7F-7899-4D8C-854E-447E7B1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62600"/>
            <a:ext cx="487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Producto, planificación, interfaz, documentación y revisión de cada sprint.</a:t>
            </a:r>
          </a:p>
        </p:txBody>
      </p:sp>
    </p:spTree>
    <p:extLst>
      <p:ext uri="{BB962C8B-B14F-4D97-AF65-F5344CB8AC3E}">
        <p14:creationId xmlns:p14="http://schemas.microsoft.com/office/powerpoint/2010/main" val="14264443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B3A19345-9340-4045-8A90-4A12F20B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PLAN DE TRABAJO PROPUESTO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AB71B06-976F-45AF-8171-E188DBAA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 semestre se convierte en cuatro tramos verificables</a:t>
            </a:r>
          </a:p>
        </p:txBody>
      </p:sp>
      <p:cxnSp>
        <p:nvCxnSpPr>
          <p:cNvPr id="44" name="Conector recto de flecha 33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208C870-3FD6-49CF-879E-EF904B9F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46" name="Conector recto de flecha 35"/>
          <p:cNvCxnSpPr/>
          <p:nvPr/>
        </p:nvCxnSpPr>
        <p:spPr>
          <a:xfrm xmlns:a="http://schemas.openxmlformats.org/drawingml/2006/main">
            <a:off x="781050" y="3162300"/>
            <a:ext cx="103822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Elipse 5">
            <a:extLst xmlns:a="http://schemas.openxmlformats.org/drawingml/2006/main">
              <a:ext uri="{FF2B5EF4-FFF2-40B4-BE49-F238E27FC236}">
                <a16:creationId xmlns:a16="http://schemas.microsoft.com/office/drawing/2014/main" id="{5E27CC28-949D-4D8D-A2B8-4C4981D3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99A8580-FE92-4F9A-B574-BD078B5F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Sem. 1–3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A8EEF55C-CA49-4A7F-98FC-75EA098B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  Definir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C79F713-98A6-453F-8050-ACA409FA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Requisitos, alcance, backlog y evidencias.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CC7AE063-4930-4D9B-A7F7-FFB6641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BA84D76-1D8F-4E73-9D69-32ABC893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Salida: MVP acordado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D8CC86C7-C0E3-4034-9C73-FDC4DE39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B9AD822D-C649-416E-9C49-985312FD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Sem. 4–7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15EB0435-646B-405A-83C9-8372FF6D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81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  Diseñar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1E20978-FA5C-46CA-ABA4-8F4D005C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38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UX, arquitectura, datos y prototipo.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5B1DADF-FAC3-4CF2-AE74-0295BE4B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815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F85AB51-AAC5-494C-B993-4B185FAE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2445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Salida: diseño validado</a:t>
            </a:r>
          </a:p>
        </p:txBody>
      </p:sp>
      <p:sp>
        <p:nvSpPr>
          <p:cNvPr id="18" name="Elipse 17">
            <a:extLst xmlns:a="http://schemas.openxmlformats.org/drawingml/2006/main">
              <a:ext uri="{FF2B5EF4-FFF2-40B4-BE49-F238E27FC236}">
                <a16:creationId xmlns:a16="http://schemas.microsoft.com/office/drawing/2014/main" id="{71BE31F2-CD71-46FC-9942-E792E517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BA53F1AF-7DC6-412A-82E1-050440EA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28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Sem. 8–13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A7238D03-9499-4760-99A3-C6DCA0C7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03  Construir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845866BA-B8D8-4654-B077-AD27B6F8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38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Foro, builder, IA e integración continua.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DB74D973-A6C8-46CE-8DC7-DF39A524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815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66173518-6EE3-4989-87FD-C95BF803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2445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Salida: incremento usable</a:t>
            </a:r>
          </a:p>
        </p:txBody>
      </p:sp>
      <p:sp>
        <p:nvSpPr>
          <p:cNvPr id="24" name="Elipse 23">
            <a:extLst xmlns:a="http://schemas.openxmlformats.org/drawingml/2006/main">
              <a:ext uri="{FF2B5EF4-FFF2-40B4-BE49-F238E27FC236}">
                <a16:creationId xmlns:a16="http://schemas.microsoft.com/office/drawing/2014/main" id="{3D7A0A1A-9A04-4A96-8C69-5B6827F1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4B6C48E8-14ED-4238-9E4B-71BE5C87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28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Sem. 14–18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864D69C5-9F98-4870-8E8C-C0C75DBF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04  Certificar</a:t>
            </a:r>
          </a:p>
        </p:txBody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04DFC6E7-23D1-48B6-A724-C1E3D30F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38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Pruebas, seguridad, despliegue y memoria.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1EBE395A-BE7F-4AFE-A879-929B33F3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815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19103715-F323-456D-93C1-0CB73CE7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2445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Salida: entrega final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828C441E-9E05-4B36-B9F0-21C2212C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Cadencia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5D4B1505-4DD1-47B4-B326-E6444C03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674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encuentros semanales · revisión por sprint · evidencia actualizada</a:t>
            </a:r>
          </a:p>
        </p:txBody>
      </p:sp>
    </p:spTree>
    <p:extLst>
      <p:ext uri="{BB962C8B-B14F-4D97-AF65-F5344CB8AC3E}">
        <p14:creationId xmlns:p14="http://schemas.microsoft.com/office/powerpoint/2010/main" val="21341263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F758517C-5BF0-4C0F-8264-18E79E14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MAPA TECNOLÓGICO · ARQUITECTURA PROPUESTA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CA6B423-1E3E-469C-AC4D-07BBD376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arquitectura conecta web, datos, IA y comunidad</a:t>
            </a:r>
          </a:p>
        </p:txBody>
      </p:sp>
      <p:cxnSp>
        <p:nvCxnSpPr>
          <p:cNvPr id="59" name="Conector recto de flecha 36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1AFEC04D-36EA-4B26-8622-108DC4D0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cxnSp>
        <p:nvCxnSpPr>
          <p:cNvPr id="61" name="Conector recto de flecha 38"/>
          <p:cNvCxnSpPr/>
          <p:nvPr/>
        </p:nvCxnSpPr>
        <p:spPr>
          <a:xfrm xmlns:a="http://schemas.openxmlformats.org/drawingml/2006/main">
            <a:off x="1981200" y="3028950"/>
            <a:ext cx="8382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cxnSp>
      <p:cxnSp>
        <p:nvCxnSpPr>
          <p:cNvPr id="62" name="Conector recto de flecha 39"/>
          <p:cNvCxnSpPr/>
          <p:nvPr/>
        </p:nvCxnSpPr>
        <p:spPr>
          <a:xfrm xmlns:a="http://schemas.openxmlformats.org/drawingml/2006/main">
            <a:off x="4648200" y="3028950"/>
            <a:ext cx="8382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cxnSp>
      <p:cxnSp>
        <p:nvCxnSpPr>
          <p:cNvPr id="63" name="Conector recto de flecha 40"/>
          <p:cNvCxnSpPr/>
          <p:nvPr/>
        </p:nvCxnSpPr>
        <p:spPr>
          <a:xfrm xmlns:a="http://schemas.openxmlformats.org/drawingml/2006/main">
            <a:off x="7315200" y="3028950"/>
            <a:ext cx="81915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cxnSp>
      <p:cxnSp>
        <p:nvCxnSpPr>
          <p:cNvPr id="64" name="Conector recto de flecha 41"/>
          <p:cNvCxnSpPr/>
          <p:nvPr/>
        </p:nvCxnSpPr>
        <p:spPr>
          <a:xfrm xmlns:a="http://schemas.openxmlformats.org/drawingml/2006/main">
            <a:off x="8134350" y="2124075"/>
            <a:ext cx="95" cy="22479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cxnSp>
      <p:cxnSp>
        <p:nvCxnSpPr>
          <p:cNvPr id="65" name="Conector recto de flecha 42"/>
          <p:cNvCxnSpPr/>
          <p:nvPr/>
        </p:nvCxnSpPr>
        <p:spPr>
          <a:xfrm xmlns:a="http://schemas.openxmlformats.org/drawingml/2006/main">
            <a:off x="8134350" y="2124075"/>
            <a:ext cx="8763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cxnSp>
      <p:cxnSp>
        <p:nvCxnSpPr>
          <p:cNvPr id="66" name="Conector recto de flecha 43"/>
          <p:cNvCxnSpPr/>
          <p:nvPr/>
        </p:nvCxnSpPr>
        <p:spPr>
          <a:xfrm xmlns:a="http://schemas.openxmlformats.org/drawingml/2006/main">
            <a:off x="8134350" y="3028950"/>
            <a:ext cx="8763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cxnSp>
      <p:cxnSp>
        <p:nvCxnSpPr>
          <p:cNvPr id="67" name="Conector recto de flecha 44"/>
          <p:cNvCxnSpPr/>
          <p:nvPr/>
        </p:nvCxnSpPr>
        <p:spPr>
          <a:xfrm xmlns:a="http://schemas.openxmlformats.org/drawingml/2006/main">
            <a:off x="8134350" y="4371975"/>
            <a:ext cx="8763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cxn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5B7BFFAD-736A-493A-AF45-E0329C5C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5811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4320AA29-39DE-45E1-AFFC-E8A5EB62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Usuarios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6C0EE30-F3DD-4FA1-A833-FF28A458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Novatos y expertos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6ABCC671-9AF9-40DA-BC09-F66C6846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18288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D23656C0-7E1A-4E91-BBC8-A345D9CF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336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Plataforma web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1D8E8629-0DB8-49F2-8D49-FC306493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76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Interfaz y foro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EEC395D1-F52A-4B51-95CD-4117DA87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62200"/>
            <a:ext cx="18288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F8E4E8D-4E66-41C5-9BEF-8BC3DFE2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336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Lógica de la solución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B2B42CA-F871-4ABD-8DA3-AF266203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76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CBF4"/>
                </a:solidFill>
                <a:latin typeface="Arial"/>
                <a:ea typeface="Arial"/>
                <a:cs typeface="Arial"/>
              </a:rPr>
              <a:t>Integración</a:t>
            </a:r>
          </a:p>
        </p:txBody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775AF451-4553-428B-871B-51025005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4003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BD23B112-0482-4606-896A-FDD40292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811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Modelo de datos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3300942E-99AB-4C94-B61E-3DFACE2E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145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Información escalable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75D51E09-224A-49AE-A39A-8EFBCF6D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81275"/>
            <a:ext cx="24003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0931D260-8F6E-429E-86E0-8CC50D16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432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Chatbot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3742D473-4510-4446-A632-E024B035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7657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Deep learning</a:t>
            </a:r>
          </a:p>
        </p:txBody>
      </p:sp>
      <p:sp>
        <p:nvSpPr>
          <p:cNvPr id="27" name="Rectángulo: esquinas redondeadas 26">
            <a:extLst xmlns:a="http://schemas.openxmlformats.org/drawingml/2006/main">
              <a:ext uri="{FF2B5EF4-FFF2-40B4-BE49-F238E27FC236}">
                <a16:creationId xmlns:a16="http://schemas.microsoft.com/office/drawing/2014/main" id="{B92896BA-E44B-4CE7-8C54-F8DC656D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24300"/>
            <a:ext cx="24003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E4406477-E401-4088-97A9-999B120F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8622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Comunidad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59908BE3-52CE-4140-B738-1F2F2F69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196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Preguntas y guías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DAA1FF82-1B26-4E0F-AAF3-04380117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53000"/>
            <a:ext cx="85915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57DA5BB3-F87B-4A62-A299-847FDE86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Gestión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AB532F34-A7AD-44B9-8F2F-49DA8D51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244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Scrum · pruebas · mantenimiento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AA46EF0C-6AEE-40E0-A214-FAA92FAD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29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Integración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6092774F-3CAC-4A22-82D0-97520DDC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10200"/>
            <a:ext cx="695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cada componente puede validarse de forma independiente antes de integrarse</a:t>
            </a:r>
          </a:p>
        </p:txBody>
      </p:sp>
    </p:spTree>
    <p:extLst>
      <p:ext uri="{BB962C8B-B14F-4D97-AF65-F5344CB8AC3E}">
        <p14:creationId xmlns:p14="http://schemas.microsoft.com/office/powerpoint/2010/main" val="11161625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A8EB9BE3-0AA2-463D-9A71-905BA0DB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COMPETENCIAS DEL PERFIL DE EGRESO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4487AAF1-94FB-4729-839B-18995FEF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Las competencias se demuestran con evidencias concretas</a:t>
            </a:r>
          </a:p>
        </p:txBody>
      </p:sp>
      <p:cxnSp>
        <p:nvCxnSpPr>
          <p:cNvPr id="111" name="Conector recto de flecha 38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7644162-F2F8-4472-AD08-F2211A16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B46913D3-5B6D-4A8D-B61D-769E1AE3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4979716-56FD-4B06-A6C0-B3B91F5A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Competencia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08D6D62E-0540-4714-8E0A-8A3A735B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04975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Aplicación en PC Forge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9B082604-6BD0-4CBA-8BB4-4700B84B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049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 verificable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AF91A29-275B-46C3-B4C2-AD6C3E66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1391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8" name="Conector recto de flecha 45"/>
          <p:cNvCxnSpPr/>
          <p:nvPr/>
        </p:nvCxnSpPr>
        <p:spPr>
          <a:xfrm xmlns:a="http://schemas.openxmlformats.org/drawingml/2006/main">
            <a:off x="4095750" y="203835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119" name="Conector recto de flecha 46"/>
          <p:cNvCxnSpPr/>
          <p:nvPr/>
        </p:nvCxnSpPr>
        <p:spPr>
          <a:xfrm xmlns:a="http://schemas.openxmlformats.org/drawingml/2006/main">
            <a:off x="7810500" y="203835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EFD8805B-DB28-416D-8AB6-6C2B7619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57425"/>
            <a:ext cx="329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Pruebas y certificación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DFD04B9E-AB7E-464F-B150-9E90A363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331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Definir criterios, automatizar pruebas y corregir defectos.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8EE50F7-194A-4C46-869C-6F3DDD43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 de pruebas · resultados · mejoras</a:t>
            </a:r>
          </a:p>
        </p:txBody>
      </p:sp>
      <p:cxnSp>
        <p:nvCxnSpPr>
          <p:cNvPr id="123" name="Conector recto de flecha 50"/>
          <p:cNvCxnSpPr/>
          <p:nvPr/>
        </p:nvCxnSpPr>
        <p:spPr>
          <a:xfrm xmlns:a="http://schemas.openxmlformats.org/drawingml/2006/main">
            <a:off x="400050" y="3009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0116D7E-7C3B-4CD5-B3D8-958A53A0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11391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5" name="Conector recto de flecha 52"/>
          <p:cNvCxnSpPr/>
          <p:nvPr/>
        </p:nvCxnSpPr>
        <p:spPr>
          <a:xfrm xmlns:a="http://schemas.openxmlformats.org/drawingml/2006/main">
            <a:off x="4095750" y="300990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126" name="Conector recto de flecha 53"/>
          <p:cNvCxnSpPr/>
          <p:nvPr/>
        </p:nvCxnSpPr>
        <p:spPr>
          <a:xfrm xmlns:a="http://schemas.openxmlformats.org/drawingml/2006/main">
            <a:off x="7810500" y="300990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B4CF243-9CE2-45EF-9596-375105B6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329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Gestión de proyectos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E43C40C-76DD-48B7-BE0C-34D9AE83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331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Priorizar backlog, controlar sprints y tomar decisiones de alcance.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2A8ED6A1-BA06-403E-A464-A5EBA39F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Roadmap · tablero · retrospectivas</a:t>
            </a:r>
          </a:p>
        </p:txBody>
      </p:sp>
      <p:cxnSp>
        <p:nvCxnSpPr>
          <p:cNvPr id="130" name="Conector recto de flecha 57"/>
          <p:cNvCxnSpPr/>
          <p:nvPr/>
        </p:nvCxnSpPr>
        <p:spPr>
          <a:xfrm xmlns:a="http://schemas.openxmlformats.org/drawingml/2006/main">
            <a:off x="400050" y="39814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87950530-905A-46B5-AE0B-D3F2DC06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1391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2" name="Conector recto de flecha 59"/>
          <p:cNvCxnSpPr/>
          <p:nvPr/>
        </p:nvCxnSpPr>
        <p:spPr>
          <a:xfrm xmlns:a="http://schemas.openxmlformats.org/drawingml/2006/main">
            <a:off x="4095750" y="398145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133" name="Conector recto de flecha 60"/>
          <p:cNvCxnSpPr/>
          <p:nvPr/>
        </p:nvCxnSpPr>
        <p:spPr>
          <a:xfrm xmlns:a="http://schemas.openxmlformats.org/drawingml/2006/main">
            <a:off x="7810500" y="398145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3F4A0E40-9FD8-4F4A-9263-6EEC0C29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00525"/>
            <a:ext cx="329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Modelos de datos</a:t>
            </a:r>
          </a:p>
        </p:txBody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64275162-66B3-479B-BA08-5BE833F1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52900"/>
            <a:ext cx="331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Diseñar información de usuarios, builds, componentes y publicaciones.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DA22CF4F-D0CE-43F5-9F0A-1C16AF5D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910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Modelo ER · migraciones · diccionario</a:t>
            </a:r>
          </a:p>
        </p:txBody>
      </p:sp>
      <p:cxnSp>
        <p:nvCxnSpPr>
          <p:cNvPr id="137" name="Conector recto de flecha 64"/>
          <p:cNvCxnSpPr/>
          <p:nvPr/>
        </p:nvCxnSpPr>
        <p:spPr>
          <a:xfrm xmlns:a="http://schemas.openxmlformats.org/drawingml/2006/main">
            <a:off x="400050" y="49530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C5A317C-FFBC-4B50-A989-785C9705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9" name="Conector recto de flecha 66"/>
          <p:cNvCxnSpPr/>
          <p:nvPr/>
        </p:nvCxnSpPr>
        <p:spPr>
          <a:xfrm xmlns:a="http://schemas.openxmlformats.org/drawingml/2006/main">
            <a:off x="4095750" y="495300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140" name="Conector recto de flecha 67"/>
          <p:cNvCxnSpPr/>
          <p:nvPr/>
        </p:nvCxnSpPr>
        <p:spPr>
          <a:xfrm xmlns:a="http://schemas.openxmlformats.org/drawingml/2006/main">
            <a:off x="7810500" y="495300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78234CD6-D918-4B40-865C-9FA052EA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329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Desarrollo de software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794F1E75-718B-4143-9AA8-D3EEA063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24450"/>
            <a:ext cx="331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Construir, integrar, desplegar y mantener los módulos.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2E9320B1-E8D3-461F-858B-5CB68828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625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Repositorio · CI/CD · versión desplegada</a:t>
            </a:r>
          </a:p>
        </p:txBody>
      </p:sp>
      <p:cxnSp>
        <p:nvCxnSpPr>
          <p:cNvPr id="144" name="Conector recto de flecha 71"/>
          <p:cNvCxnSpPr/>
          <p:nvPr/>
        </p:nvCxnSpPr>
        <p:spPr>
          <a:xfrm xmlns:a="http://schemas.openxmlformats.org/drawingml/2006/main">
            <a:off x="400050" y="5924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5918963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A8EB9BE3-0AA2-463D-9A71-905BA0DB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EVIDENCIAS PROPUESTAS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4487AAF1-94FB-4729-839B-18995FEF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Cada etapa deja evidencia revisable del aprendizaje</a:t>
            </a:r>
          </a:p>
        </p:txBody>
      </p:sp>
      <p:cxnSp>
        <p:nvCxnSpPr>
          <p:cNvPr id="111" name="Conector recto de flecha 38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7644162-F2F8-4472-AD08-F2211A16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B46913D3-5B6D-4A8D-B61D-769E1AE3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4979716-56FD-4B06-A6C0-B3B91F5A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Actividad clave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08D6D62E-0540-4714-8E0A-8A3A735B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04975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9B082604-6BD0-4CBA-8BB4-4700B84B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049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 qué demuestra avance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AF91A29-275B-46C3-B4C2-AD6C3E66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1391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8" name="Conector recto de flecha 45"/>
          <p:cNvCxnSpPr/>
          <p:nvPr/>
        </p:nvCxnSpPr>
        <p:spPr>
          <a:xfrm xmlns:a="http://schemas.openxmlformats.org/drawingml/2006/main">
            <a:off x="4095750" y="203835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119" name="Conector recto de flecha 46"/>
          <p:cNvCxnSpPr/>
          <p:nvPr/>
        </p:nvCxnSpPr>
        <p:spPr>
          <a:xfrm xmlns:a="http://schemas.openxmlformats.org/drawingml/2006/main">
            <a:off x="7810500" y="203835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EFD8805B-DB28-416D-8AB6-6C2B7619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57425"/>
            <a:ext cx="329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Definición del MVP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DFD04B9E-AB7E-464F-B150-9E90A363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331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Backlog + requisitos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8EE50F7-194A-4C46-869C-6F3DDD43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Fija alcance y necesidades</a:t>
            </a:r>
          </a:p>
        </p:txBody>
      </p:sp>
      <p:cxnSp>
        <p:nvCxnSpPr>
          <p:cNvPr id="123" name="Conector recto de flecha 50"/>
          <p:cNvCxnSpPr/>
          <p:nvPr/>
        </p:nvCxnSpPr>
        <p:spPr>
          <a:xfrm xmlns:a="http://schemas.openxmlformats.org/drawingml/2006/main">
            <a:off x="400050" y="3009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0116D7E-7C3B-4CD5-B3D8-958A53A0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11391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5" name="Conector recto de flecha 52"/>
          <p:cNvCxnSpPr/>
          <p:nvPr/>
        </p:nvCxnSpPr>
        <p:spPr>
          <a:xfrm xmlns:a="http://schemas.openxmlformats.org/drawingml/2006/main">
            <a:off x="4095750" y="300990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126" name="Conector recto de flecha 53"/>
          <p:cNvCxnSpPr/>
          <p:nvPr/>
        </p:nvCxnSpPr>
        <p:spPr>
          <a:xfrm xmlns:a="http://schemas.openxmlformats.org/drawingml/2006/main">
            <a:off x="7810500" y="300990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B4CF243-9CE2-45EF-9596-375105B6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329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Modelo de datos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E43C40C-76DD-48B7-BE0C-34D9AE83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331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Modelo ER + diccionario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2A8ED6A1-BA06-403E-A464-A5EBA39F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Demuestra diseño escalable</a:t>
            </a:r>
          </a:p>
        </p:txBody>
      </p:sp>
      <p:cxnSp>
        <p:nvCxnSpPr>
          <p:cNvPr id="130" name="Conector recto de flecha 57"/>
          <p:cNvCxnSpPr/>
          <p:nvPr/>
        </p:nvCxnSpPr>
        <p:spPr>
          <a:xfrm xmlns:a="http://schemas.openxmlformats.org/drawingml/2006/main">
            <a:off x="400050" y="39814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87950530-905A-46B5-AE0B-D3F2DC06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1391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2" name="Conector recto de flecha 59"/>
          <p:cNvCxnSpPr/>
          <p:nvPr/>
        </p:nvCxnSpPr>
        <p:spPr>
          <a:xfrm xmlns:a="http://schemas.openxmlformats.org/drawingml/2006/main">
            <a:off x="4095750" y="398145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133" name="Conector recto de flecha 60"/>
          <p:cNvCxnSpPr/>
          <p:nvPr/>
        </p:nvCxnSpPr>
        <p:spPr>
          <a:xfrm xmlns:a="http://schemas.openxmlformats.org/drawingml/2006/main">
            <a:off x="7810500" y="398145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3F4A0E40-9FD8-4F4A-9263-6EEC0C29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00525"/>
            <a:ext cx="329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Plataforma + chatbot</a:t>
            </a:r>
          </a:p>
        </p:txBody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64275162-66B3-479B-BA08-5BE833F1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52900"/>
            <a:ext cx="331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Demo integrada + repositorio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DA22CF4F-D0CE-43F5-9F0A-1C16AF5D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910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Demuestra construcción e integración</a:t>
            </a:r>
          </a:p>
        </p:txBody>
      </p:sp>
      <p:cxnSp>
        <p:nvCxnSpPr>
          <p:cNvPr id="137" name="Conector recto de flecha 64"/>
          <p:cNvCxnSpPr/>
          <p:nvPr/>
        </p:nvCxnSpPr>
        <p:spPr>
          <a:xfrm xmlns:a="http://schemas.openxmlformats.org/drawingml/2006/main">
            <a:off x="400050" y="49530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C5A317C-FFBC-4B50-A989-785C9705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9" name="Conector recto de flecha 66"/>
          <p:cNvCxnSpPr/>
          <p:nvPr/>
        </p:nvCxnSpPr>
        <p:spPr>
          <a:xfrm xmlns:a="http://schemas.openxmlformats.org/drawingml/2006/main">
            <a:off x="4095750" y="495300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140" name="Conector recto de flecha 67"/>
          <p:cNvCxnSpPr/>
          <p:nvPr/>
        </p:nvCxnSpPr>
        <p:spPr>
          <a:xfrm xmlns:a="http://schemas.openxmlformats.org/drawingml/2006/main">
            <a:off x="7810500" y="4953000"/>
            <a:ext cx="9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78234CD6-D918-4B40-865C-9FA052EA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329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Validación final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794F1E75-718B-4143-9AA8-D3EEA063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24450"/>
            <a:ext cx="331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Plan de pruebas + resultados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2E9320B1-E8D3-461F-858B-5CB68828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625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Demuestra calidad y mejoras</a:t>
            </a:r>
          </a:p>
        </p:txBody>
      </p:sp>
      <p:cxnSp>
        <p:nvCxnSpPr>
          <p:cNvPr id="144" name="Conector recto de flecha 71"/>
          <p:cNvCxnSpPr/>
          <p:nvPr/>
        </p:nvCxnSpPr>
        <p:spPr>
          <a:xfrm xmlns:a="http://schemas.openxmlformats.org/drawingml/2006/main">
            <a:off x="400050" y="5924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5918963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C9DA2AEE-8408-4A53-9254-D678472F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RIESGOS Y MITIGACIONES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13C20F3F-15C1-462F-BAC5-CA25D173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Los riesgos se controlan con decisiones tempranas</a:t>
            </a:r>
          </a:p>
        </p:txBody>
      </p:sp>
      <p:cxnSp>
        <p:nvCxnSpPr>
          <p:cNvPr id="100" name="Conector recto de flecha 43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EA0F7DA-AF56-4757-A79B-53A4AB3E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91B86678-F13F-47A5-99F5-7BEF02B9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6B07296-68EA-4E32-9209-490BB7C0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ALTO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788AB81-925B-4808-BBB0-D88E20C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BAJO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61D1E629-D397-4CA9-A1DD-3187A83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90700"/>
            <a:ext cx="2724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2C7CB79-C067-46F6-828A-A13C736A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790700"/>
            <a:ext cx="2724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87FF4FC9-CA85-4E1A-925F-62FFE3CA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2724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7C1231E6-0DF2-49E9-A943-CF189667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43300"/>
            <a:ext cx="2724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cxnSp>
        <p:nvCxnSpPr>
          <p:cNvPr id="109" name="Conector recto de flecha 52"/>
          <p:cNvCxnSpPr/>
          <p:nvPr/>
        </p:nvCxnSpPr>
        <p:spPr>
          <a:xfrm xmlns:a="http://schemas.openxmlformats.org/drawingml/2006/main">
            <a:off x="1200150" y="1790700"/>
            <a:ext cx="95" cy="3505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110" name="Conector recto de flecha 53"/>
          <p:cNvCxnSpPr/>
          <p:nvPr/>
        </p:nvCxnSpPr>
        <p:spPr>
          <a:xfrm xmlns:a="http://schemas.openxmlformats.org/drawingml/2006/main">
            <a:off x="1200150" y="5295900"/>
            <a:ext cx="5448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9228575-7DE2-4DD5-B1E6-68148752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48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Probabilidad  BAJA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5865BC7E-0D56-4BC6-BDFE-50897FA8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4483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ALTA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FF10050F-5016-46CE-BDA3-087234D4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A3A"/>
          </a:solidFill>
          <a:ln xmlns:a="http://schemas.openxmlformats.org/drawingml/2006/main" w="0">
            <a:solidFill>
              <a:srgbClr val="B83A3A"/>
            </a:solidFill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C274E78D-788A-4455-81B0-14C562E6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860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9802E65-6D54-446A-86C9-DDD2B5D6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Entrenamiento de IA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7D98A50E-B0E1-4869-B9E2-BADD97FA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B00"/>
          </a:solidFill>
          <a:ln xmlns:a="http://schemas.openxmlformats.org/drawingml/2006/main" w="0">
            <a:solidFill>
              <a:srgbClr val="B66B00"/>
            </a:solidFill>
            <a:prstDash val="solid"/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6E123A8B-02BC-4C20-A749-F0031FAD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9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708C5FB2-E2A8-4DEB-99B5-0FA229E9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194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Alcance excesivo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7B52B6BD-6836-4AC1-958F-2EEBEF79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48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E2201296-D11F-4635-AAB0-AC600958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95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958FFF2E-BD6E-4CFE-9D52-AD81897C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Datos incompletos</a:t>
            </a:r>
          </a:p>
        </p:txBody>
      </p:sp>
      <p:sp>
        <p:nvSpPr>
          <p:cNvPr id="25" name="Elipse 24">
            <a:extLst xmlns:a="http://schemas.openxmlformats.org/drawingml/2006/main">
              <a:ext uri="{FF2B5EF4-FFF2-40B4-BE49-F238E27FC236}">
                <a16:creationId xmlns:a16="http://schemas.microsoft.com/office/drawing/2014/main" id="{96E46E3F-57FB-4936-A527-9DDAD368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71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949FF59A-62F2-45B8-BE72-C230925C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195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EA08E85-69AE-489F-BDFF-41D7423D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1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Coordinación tardía</a:t>
            </a:r>
          </a:p>
        </p:txBody>
      </p:sp>
      <p:cxnSp>
        <p:nvCxnSpPr>
          <p:cNvPr id="125" name="Conector recto de flecha 68"/>
          <p:cNvCxnSpPr/>
          <p:nvPr/>
        </p:nvCxnSpPr>
        <p:spPr>
          <a:xfrm xmlns:a="http://schemas.openxmlformats.org/drawingml/2006/main">
            <a:off x="7086600" y="1638300"/>
            <a:ext cx="95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44FDB885-297F-4534-B87A-9566851F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573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Mitigación prioritaria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D5A8FA96-82E4-4A33-84AA-54564E45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98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51CACFA5-F4CF-42E6-B635-119BACAB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Prototipo temprano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73C1F928-29C3-4822-8461-A9155B3C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955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Validar el chatbot antes de cerrar la arquitectura.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614967D1-140F-4578-8B1A-B6BF3FBC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EC2ADC22-73A4-4CFA-9967-38C2AF05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MVP priorizado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F0D0F76A-4D0D-4709-B9BF-F2C21345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Foro, orientación y compatibilidad como núcleo.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32757F5E-3CD6-4DB7-A8CA-05A14BDB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624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750E960-F9C4-4F90-B3AE-8878117F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Fuentes controladas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67AB653E-0D4D-491A-9649-40509807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Datos de componentes revisados y trazables.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78CB60C7-BA16-4B50-B580-80903074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74FB850-5906-4FE7-A2DB-5490FD13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38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Cadencia fija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86677DAC-E28C-498D-B932-67B4399F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24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Tres encuentros semanales y seguimiento por sprint.</a:t>
            </a:r>
          </a:p>
        </p:txBody>
      </p:sp>
    </p:spTree>
    <p:extLst>
      <p:ext uri="{BB962C8B-B14F-4D97-AF65-F5344CB8AC3E}">
        <p14:creationId xmlns:p14="http://schemas.microsoft.com/office/powerpoint/2010/main" val="19072327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A9415E3-FC07-4349-BFAA-BA7C952A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SEGURIDAD PROPUESTA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E950F5E0-4D1A-40E7-86AB-FE4C4ADD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Seguridad en cada capa construye confianza</a:t>
            </a:r>
          </a:p>
        </p:txBody>
      </p:sp>
      <p:cxnSp>
        <p:nvCxnSpPr>
          <p:cNvPr id="35" name="Conector recto de flecha 28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59BE87C7-6152-44A2-AA96-9C870404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95A90D2A-EC3F-4570-8BB7-190C7CC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201B8EF-B27A-4A38-B512-E6C80447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F00A124-6F09-43EA-AD6F-EB5AB9D8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Identidad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9E7E0D9-DA12-47B2-AFE4-1423D41C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907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Registro seguro · MFA opcional · sesiones protegidas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5109972D-C591-46DF-AA8C-CE13AAE0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07442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6FA62B8-E7FE-41FA-90C8-D9E96509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01F94633-0240-4D77-BFE2-10796E8A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Aplicación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74CA42A7-BBA5-41A0-8161-5726778E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67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Validación de entradas · OWASP · límites de solicitudes</a:t>
            </a:r>
          </a:p>
        </p:txBody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BC4B0CAA-813E-48C9-9A0C-D45B4E31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100965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19F4D7D4-381B-4FEA-96E5-32509307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0CD0C358-9C8F-4FD4-B235-95D7A361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B1870B2-7A75-4FCE-8116-759C975F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90900"/>
            <a:ext cx="735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Cifrado en tránsito y reposo · mínimos datos · respaldos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B5AA9698-7EB5-433E-AF05-43C694E0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94488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5ABB39E3-93EA-478F-B4ED-38C569B7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9027F804-EAF1-46FE-A0E1-4915CE50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71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IA y comunidad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EE9E5CA-2C6F-4A31-B72F-DE6817F6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702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Moderación · defensa ante prompt injection · fuentes trazables</a:t>
            </a:r>
          </a:p>
        </p:txBody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7A4752EE-DB94-4CDE-8AF2-978E8389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88011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D0C4FEC7-38D3-4D6B-BA3E-43745487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4EC8FA2-B32B-429F-B466-CBAF9D55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72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Operación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83345A0-B59D-4C72-AE4E-4E494873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91100"/>
            <a:ext cx="670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Secretos fuera del código · logs · alertas · parcheo continuo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69327BBF-DAB3-4AA1-AA1D-5BB0B111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72150"/>
            <a:ext cx="883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00E1AC13-612C-4D65-A2BB-555F06E4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867400"/>
            <a:ext cx="845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Principio transversal: mínimo privilegio + trazabilidad + privacidad desde el diseño</a:t>
            </a:r>
          </a:p>
        </p:txBody>
      </p:sp>
    </p:spTree>
    <p:extLst>
      <p:ext uri="{BB962C8B-B14F-4D97-AF65-F5344CB8AC3E}">
        <p14:creationId xmlns:p14="http://schemas.microsoft.com/office/powerpoint/2010/main" val="13458083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8E481C18-F042-4DB5-9FD5-9F202409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MODELO DE NEGOCIO PROPUESTO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EDFE3D73-E23A-4079-B14B-26D32A1B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 negocio debe crecer sin comprometer la confianza</a:t>
            </a:r>
          </a:p>
        </p:txBody>
      </p:sp>
      <p:cxnSp>
        <p:nvCxnSpPr>
          <p:cNvPr id="93" name="Conector recto de flecha 38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7E98B3C4-AF96-4119-8192-125DEF55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3589A09C-5E5C-4699-AE8F-15EBC2BE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Hipótesis a validar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65D21978-60F3-484B-9DBD-CEABF2F5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utilidad gratuita crea comunidad; la monetización aparece cuando agrega valor sin sesgar la recomendación.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B2E100D8-A3C8-4712-AB9E-BEDDE09E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F6057F56-4799-4889-BED0-7262B3C9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Usuarios</a:t>
            </a:r>
          </a:p>
        </p:txBody>
      </p:sp>
      <p:cxnSp>
        <p:nvCxnSpPr>
          <p:cNvPr id="99" name="Conector recto de flecha 44"/>
          <p:cNvCxnSpPr/>
          <p:nvPr/>
        </p:nvCxnSpPr>
        <p:spPr>
          <a:xfrm xmlns:a="http://schemas.openxmlformats.org/drawingml/2006/main">
            <a:off x="400050" y="3638550"/>
            <a:ext cx="33337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7B591F8B-D5AE-4A21-880A-DF2FE9B7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7A3D843B-6E08-4C91-AEA8-17876570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Personas que arman su primer PC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DB2AA75E-7B70-4490-A5D4-54E9E50D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86B13B5F-D68A-401E-AC67-90756B3B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Entusiastas que comparan configuraciones</a:t>
            </a:r>
          </a:p>
        </p:txBody>
      </p:sp>
      <p:sp>
        <p:nvSpPr>
          <p:cNvPr id="14" name="Elipse 13">
            <a:extLst xmlns:a="http://schemas.openxmlformats.org/drawingml/2006/main">
              <a:ext uri="{FF2B5EF4-FFF2-40B4-BE49-F238E27FC236}">
                <a16:creationId xmlns:a16="http://schemas.microsoft.com/office/drawing/2014/main" id="{1DE4F619-4F6D-4D40-BC45-DFC7433F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FB5F20A4-C7CC-45CA-8F62-0A28F307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Comunidad que comparte experiencia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BBCAC094-1019-4D92-979D-4F8ACE32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19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AFDA623-47BD-4732-8618-AECDCBEF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527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Valor</a:t>
            </a:r>
          </a:p>
        </p:txBody>
      </p:sp>
      <p:cxnSp>
        <p:nvCxnSpPr>
          <p:cNvPr id="108" name="Conector recto de flecha 53"/>
          <p:cNvCxnSpPr/>
          <p:nvPr/>
        </p:nvCxnSpPr>
        <p:spPr>
          <a:xfrm xmlns:a="http://schemas.openxmlformats.org/drawingml/2006/main">
            <a:off x="4152900" y="3638550"/>
            <a:ext cx="333375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769E0"/>
            </a:solidFill>
            <a:prstDash val="solid"/>
          </a:ln>
        </p:spPr>
      </p:cxn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9E66457E-74F9-470D-8015-5C237112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EFAE444A-CE8C-4725-BF7E-F156000E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Builder con compatibilidad</a:t>
            </a:r>
          </a:p>
        </p:txBody>
      </p:sp>
      <p:sp>
        <p:nvSpPr>
          <p:cNvPr id="21" name="Elipse 20">
            <a:extLst xmlns:a="http://schemas.openxmlformats.org/drawingml/2006/main">
              <a:ext uri="{FF2B5EF4-FFF2-40B4-BE49-F238E27FC236}">
                <a16:creationId xmlns:a16="http://schemas.microsoft.com/office/drawing/2014/main" id="{9A34462F-29DB-442E-999E-A1E03FBE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13D3F45-D944-4DA7-B6A8-051EEC2C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Asistente explicable</a:t>
            </a:r>
          </a:p>
        </p:txBody>
      </p:sp>
      <p:sp>
        <p:nvSpPr>
          <p:cNvPr id="23" name="Elipse 22">
            <a:extLst xmlns:a="http://schemas.openxmlformats.org/drawingml/2006/main">
              <a:ext uri="{FF2B5EF4-FFF2-40B4-BE49-F238E27FC236}">
                <a16:creationId xmlns:a16="http://schemas.microsoft.com/office/drawing/2014/main" id="{9185F3E7-1C03-4988-8211-BED1049B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A1CDBB9-C981-4FDB-99B3-7462B48E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01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Guías y foro especializado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25500592-FC30-4B26-8A93-67723D27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19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F6197DC6-E902-47FB-8742-E786F23B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52775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Ingresos posibles</a:t>
            </a:r>
          </a:p>
        </p:txBody>
      </p:sp>
      <p:cxnSp>
        <p:nvCxnSpPr>
          <p:cNvPr id="117" name="Conector recto de flecha 62"/>
          <p:cNvCxnSpPr/>
          <p:nvPr/>
        </p:nvCxnSpPr>
        <p:spPr>
          <a:xfrm xmlns:a="http://schemas.openxmlformats.org/drawingml/2006/main">
            <a:off x="7905750" y="3638550"/>
            <a:ext cx="3886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CDD27036-94F1-46FB-B253-A9D83745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D75F70D-3789-42F0-9D98-5DF4AA60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Afiliación transparente</a:t>
            </a:r>
          </a:p>
        </p:txBody>
      </p:sp>
      <p:sp>
        <p:nvSpPr>
          <p:cNvPr id="30" name="Elipse 29">
            <a:extLst xmlns:a="http://schemas.openxmlformats.org/drawingml/2006/main">
              <a:ext uri="{FF2B5EF4-FFF2-40B4-BE49-F238E27FC236}">
                <a16:creationId xmlns:a16="http://schemas.microsoft.com/office/drawing/2014/main" id="{9058A3AD-1F45-4BE3-91D3-7FE8CD0D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EB9CDB89-4CC4-4600-B1C2-692BDF4C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5770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Plan Pro opcional</a:t>
            </a:r>
          </a:p>
        </p:txBody>
      </p:sp>
      <p:sp>
        <p:nvSpPr>
          <p:cNvPr id="32" name="Elipse 31">
            <a:extLst xmlns:a="http://schemas.openxmlformats.org/drawingml/2006/main">
              <a:ext uri="{FF2B5EF4-FFF2-40B4-BE49-F238E27FC236}">
                <a16:creationId xmlns:a16="http://schemas.microsoft.com/office/drawing/2014/main" id="{EADECEC4-08EB-42C2-9435-8C0461FE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0C42920D-6852-4E42-BACD-6F662742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1015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Servicios B2B en una fase posterior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EEF4DB80-7302-4258-8E47-45CC12EE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4CC151EB-1C82-48FD-B7AA-D06121C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Regla de confianza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56ECFE2E-7133-478E-BF14-0764A4ED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78167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separar claramente recomendación, publicidad y enlaces afiliados</a:t>
            </a:r>
          </a:p>
        </p:txBody>
      </p:sp>
    </p:spTree>
    <p:extLst>
      <p:ext uri="{BB962C8B-B14F-4D97-AF65-F5344CB8AC3E}">
        <p14:creationId xmlns:p14="http://schemas.microsoft.com/office/powerpoint/2010/main" val="13160619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5D1B06F3-FD90-49E8-B187-1C150A44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EXPERIENCIA DE PRODUCTO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92775106-ED6E-4235-9978-B1A68D74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Una pantalla reúne guía, compatibilidad y comunidad</a:t>
            </a:r>
          </a:p>
        </p:txBody>
      </p:sp>
      <p:cxnSp>
        <p:nvCxnSpPr>
          <p:cNvPr id="17" name="Conector recto de flecha 8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96AB1FCB-89D8-441E-8109-22457A4A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39BCEA87-C038-4BD6-BAFA-A362FD1F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4610100"/>
          </a:xfrm>
          <a:prstGeom xmlns:a="http://schemas.openxmlformats.org/drawingml/2006/main" prst="roundRect">
            <a:avLst>
              <a:gd name="adj" fmla="val 165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Imagen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11455d95e47ff"/>
          <a:stretch xmlns:a="http://schemas.openxmlformats.org/drawingml/2006/main"/>
        </p:blipFill>
        <p:spPr>
          <a:xfrm xmlns:a="http://schemas.openxmlformats.org/drawingml/2006/main">
            <a:off x="2203403" y="1619250"/>
            <a:ext cx="7785194" cy="4381500"/>
          </a:xfrm>
          <a:prstGeom xmlns:a="http://schemas.openxmlformats.org/drawingml/2006/main" prst="roundRect">
            <a:avLst>
              <a:gd name="adj" fmla="val 1304"/>
            </a:avLst>
          </a:prstGeom>
        </p:spPr>
      </p:pic>
    </p:spTree>
    <p:extLst>
      <p:ext uri="{BB962C8B-B14F-4D97-AF65-F5344CB8AC3E}">
        <p14:creationId xmlns:p14="http://schemas.microsoft.com/office/powerpoint/2010/main" val="10693947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AF1D113-5C9F-49E2-9ED7-97EFFE14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3F7B969F-B0B3-40EE-B34A-662DA497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PC Forge integra necesidad real y competencias profesionales</a:t>
            </a:r>
          </a:p>
        </p:txBody>
      </p:sp>
      <p:cxnSp>
        <p:nvCxnSpPr>
          <p:cNvPr id="57" name="Conector recto de flecha 22"/>
          <p:cNvCxnSpPr/>
          <p:nvPr/>
        </p:nvCxnSpPr>
        <p:spPr>
          <a:xfrm xmlns:a="http://schemas.openxmlformats.org/drawingml/2006/main">
            <a:off x="400050" y="1257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E65FE5F-7856-4051-A83B-B84C6F81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F49CABE2-0B69-4C15-89F7-811078FB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Una propuesta relevante, factible y coherente con el perfil de egreso.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0E6812DA-5EFD-4715-821E-49EBAFD4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6F3CEE00-3BA1-4F10-946B-313DE14C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Relevante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F6B2F8C5-6657-4793-9E61-07615E46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636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Aborda la falta de orientación confiable y personalizada.</a:t>
            </a:r>
          </a:p>
        </p:txBody>
      </p:sp>
      <p:cxnSp>
        <p:nvCxnSpPr>
          <p:cNvPr id="63" name="Conector recto de flecha 28"/>
          <p:cNvCxnSpPr/>
          <p:nvPr/>
        </p:nvCxnSpPr>
        <p:spPr>
          <a:xfrm xmlns:a="http://schemas.openxmlformats.org/drawingml/2006/main">
            <a:off x="400050" y="3390900"/>
            <a:ext cx="11010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AC053DB-11DD-42D0-90CD-22F4EA51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D3F9C57E-3EFD-45CF-B128-230E17E7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Factible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610685D1-3640-4BCA-BC64-7DD6FA9E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95700"/>
            <a:ext cx="636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El equipo y los recursos están disponibles; la IA se controla como riesgo.</a:t>
            </a:r>
          </a:p>
        </p:txBody>
      </p:sp>
      <p:cxnSp>
        <p:nvCxnSpPr>
          <p:cNvPr id="67" name="Conector recto de flecha 32"/>
          <p:cNvCxnSpPr/>
          <p:nvPr/>
        </p:nvCxnSpPr>
        <p:spPr>
          <a:xfrm xmlns:a="http://schemas.openxmlformats.org/drawingml/2006/main">
            <a:off x="400050" y="4191000"/>
            <a:ext cx="11010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6B90D3F-13D8-40DA-A5AD-199BE497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A5D4F43-13CA-4612-8E47-8AB328AA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Formativa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4CFDFAC-ED26-423A-96A3-39B58745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636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Integra pruebas, gestión, datos, desarrollo web e inteligencia artificial.</a:t>
            </a:r>
          </a:p>
        </p:txBody>
      </p:sp>
      <p:cxnSp>
        <p:nvCxnSpPr>
          <p:cNvPr id="71" name="Conector recto de flecha 36"/>
          <p:cNvCxnSpPr/>
          <p:nvPr/>
        </p:nvCxnSpPr>
        <p:spPr>
          <a:xfrm xmlns:a="http://schemas.openxmlformats.org/drawingml/2006/main">
            <a:off x="400050" y="4991100"/>
            <a:ext cx="11010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3611B83F-B48B-4C95-99D5-34D45046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1139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FA0B906E-D996-4689-BCE4-C4406B18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Siguiente hito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E8B86086-769F-4A68-B169-EFD70DC4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626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Acordar evidencias → validar el MVP → iniciar sprint 1</a:t>
            </a:r>
          </a:p>
        </p:txBody>
      </p:sp>
    </p:spTree>
    <p:extLst>
      <p:ext uri="{BB962C8B-B14F-4D97-AF65-F5344CB8AC3E}">
        <p14:creationId xmlns:p14="http://schemas.microsoft.com/office/powerpoint/2010/main" val="46022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2026-08-30T18:39:25.5190000Z</dcterms:created>
  <dcterms:modified xsi:type="dcterms:W3CDTF">2026-08-30T18:39:25.5200000Z</dcterms:modified>
</coreProperties>
</file>